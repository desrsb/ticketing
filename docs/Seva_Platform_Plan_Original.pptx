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1" r:id="rId45"/>
    <p:sldId id="302"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86F81D-F3A0-4E42-BE66-39E6F4ABCC06}"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C4516-8535-4604-9933-BA0079FC02E7}" type="slidenum">
              <a:rPr lang="en-US" smtClean="0"/>
              <a:t>‹#›</a:t>
            </a:fld>
            <a:endParaRPr lang="en-US"/>
          </a:p>
        </p:txBody>
      </p:sp>
    </p:spTree>
    <p:extLst>
      <p:ext uri="{BB962C8B-B14F-4D97-AF65-F5344CB8AC3E}">
        <p14:creationId xmlns:p14="http://schemas.microsoft.com/office/powerpoint/2010/main" val="747369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diagrams/01_architecture.puml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diagrams/11_roles.puml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diagrams/02_master_flow.puml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diagrams/03_status_lifecycle.puml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diagrams/04_payment_as_is.puml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diagrams/05_payment_to_be.puml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diagrams/06_edit_window.puml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diagrams/07_registrar_desk.puml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diagrams/08_waitlist.puml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diagrams/09_data_model.puml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source: diagrams/10_roadmap.puml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2C4516-8535-4604-9933-BA0079FC02E7}" type="slidenum">
              <a:rPr lang="en-US" smtClean="0"/>
              <a:t>45</a:t>
            </a:fld>
            <a:endParaRPr lang="en-US"/>
          </a:p>
        </p:txBody>
      </p:sp>
    </p:spTree>
    <p:extLst>
      <p:ext uri="{BB962C8B-B14F-4D97-AF65-F5344CB8AC3E}">
        <p14:creationId xmlns:p14="http://schemas.microsoft.com/office/powerpoint/2010/main" val="3388159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55178B14-FF17-CB64-D05B-E5FC6300C91E}"/>
              </a:ext>
            </a:extLst>
          </p:cNvPr>
          <p:cNvSpPr txBox="1"/>
          <p:nvPr>
            <p:extLst>
              <p:ext uri="{1162E1C5-73C7-4A58-AE30-91384D911F3F}">
                <p184:classification xmlns:p184="http://schemas.microsoft.com/office/powerpoint/2018/4/main" val="ftr"/>
              </p:ext>
            </p:extLst>
          </p:nvPr>
        </p:nvSpPr>
        <p:spPr>
          <a:xfrm>
            <a:off x="5957062" y="6672580"/>
            <a:ext cx="298450"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Public</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Rectangle 1"/>
          <p:cNvSpPr/>
          <p:nvPr/>
        </p:nvSpPr>
        <p:spPr>
          <a:xfrm>
            <a:off x="0" y="5394960"/>
            <a:ext cx="12191695" cy="73152"/>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eg"/>
          <p:cNvPicPr>
            <a:picLocks noChangeAspect="1"/>
          </p:cNvPicPr>
          <p:nvPr/>
        </p:nvPicPr>
        <p:blipFill>
          <a:blip r:embed="rId2"/>
          <a:stretch>
            <a:fillRect/>
          </a:stretch>
        </p:blipFill>
        <p:spPr>
          <a:xfrm>
            <a:off x="8899855" y="776083"/>
            <a:ext cx="2834640" cy="825274"/>
          </a:xfrm>
          <a:prstGeom prst="rect">
            <a:avLst/>
          </a:prstGeom>
        </p:spPr>
      </p:pic>
      <p:sp>
        <p:nvSpPr>
          <p:cNvPr id="4" name="TextBox 3"/>
          <p:cNvSpPr txBox="1"/>
          <p:nvPr/>
        </p:nvSpPr>
        <p:spPr>
          <a:xfrm>
            <a:off x="731520" y="1280160"/>
            <a:ext cx="9144000" cy="457200"/>
          </a:xfrm>
          <a:prstGeom prst="rect">
            <a:avLst/>
          </a:prstGeom>
          <a:noFill/>
        </p:spPr>
        <p:txBody>
          <a:bodyPr wrap="square" anchor="t">
            <a:spAutoFit/>
          </a:bodyPr>
          <a:lstStyle/>
          <a:p>
            <a:pPr algn="l"/>
            <a:r>
              <a:rPr sz="1600" b="0">
                <a:solidFill>
                  <a:srgbClr val="DDC79A"/>
                </a:solidFill>
                <a:latin typeface="Segoe UI"/>
              </a:rPr>
              <a:t>DE SRS Brundavan e.V.  |  Sri Raghavendra Aradhana Mahotsava 2026</a:t>
            </a:r>
          </a:p>
        </p:txBody>
      </p:sp>
      <p:sp>
        <p:nvSpPr>
          <p:cNvPr id="5" name="TextBox 4"/>
          <p:cNvSpPr txBox="1"/>
          <p:nvPr/>
        </p:nvSpPr>
        <p:spPr>
          <a:xfrm>
            <a:off x="731520" y="1828800"/>
            <a:ext cx="10515600" cy="1463040"/>
          </a:xfrm>
          <a:prstGeom prst="rect">
            <a:avLst/>
          </a:prstGeom>
          <a:noFill/>
        </p:spPr>
        <p:txBody>
          <a:bodyPr wrap="square" anchor="t">
            <a:spAutoFit/>
          </a:bodyPr>
          <a:lstStyle/>
          <a:p>
            <a:pPr algn="l"/>
            <a:r>
              <a:rPr sz="4800" b="1">
                <a:solidFill>
                  <a:srgbClr val="FFFFFF"/>
                </a:solidFill>
                <a:latin typeface="Georgia"/>
              </a:rPr>
              <a:t>Seva Registration Platform</a:t>
            </a:r>
          </a:p>
        </p:txBody>
      </p:sp>
      <p:sp>
        <p:nvSpPr>
          <p:cNvPr id="6" name="TextBox 5"/>
          <p:cNvSpPr txBox="1"/>
          <p:nvPr/>
        </p:nvSpPr>
        <p:spPr>
          <a:xfrm>
            <a:off x="731520" y="3383280"/>
            <a:ext cx="10515600" cy="914400"/>
          </a:xfrm>
          <a:prstGeom prst="rect">
            <a:avLst/>
          </a:prstGeom>
          <a:noFill/>
        </p:spPr>
        <p:txBody>
          <a:bodyPr wrap="square" anchor="t">
            <a:spAutoFit/>
          </a:bodyPr>
          <a:lstStyle/>
          <a:p>
            <a:pPr algn="l"/>
            <a:r>
              <a:rPr sz="2200" b="0">
                <a:solidFill>
                  <a:srgbClr val="DDC79A"/>
                </a:solidFill>
                <a:latin typeface="Segoe UI"/>
              </a:rPr>
              <a:t>Invitations  ·  Registration  ·  Payments  ·  Check-in  ·  Analytics</a:t>
            </a:r>
          </a:p>
        </p:txBody>
      </p:sp>
      <p:sp>
        <p:nvSpPr>
          <p:cNvPr id="7" name="TextBox 6"/>
          <p:cNvSpPr txBox="1"/>
          <p:nvPr/>
        </p:nvSpPr>
        <p:spPr>
          <a:xfrm>
            <a:off x="731520" y="5669280"/>
            <a:ext cx="10515600" cy="548640"/>
          </a:xfrm>
          <a:prstGeom prst="rect">
            <a:avLst/>
          </a:prstGeom>
          <a:noFill/>
        </p:spPr>
        <p:txBody>
          <a:bodyPr wrap="square" anchor="t">
            <a:spAutoFit/>
          </a:bodyPr>
          <a:lstStyle/>
          <a:p>
            <a:pPr algn="l"/>
            <a:r>
              <a:rPr sz="1400" b="0" dirty="0">
                <a:solidFill>
                  <a:srgbClr val="DDC79A"/>
                </a:solidFill>
                <a:latin typeface="Segoe UI"/>
              </a:rPr>
              <a:t>Concept and plan for discussion  |  free tools only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Agenda</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a:t>
            </a:r>
          </a:p>
        </p:txBody>
      </p:sp>
      <p:sp>
        <p:nvSpPr>
          <p:cNvPr id="7" name="TextBox 6"/>
          <p:cNvSpPr txBox="1"/>
          <p:nvPr/>
        </p:nvSpPr>
        <p:spPr>
          <a:xfrm>
            <a:off x="411480" y="1371600"/>
            <a:ext cx="11368735" cy="5166360"/>
          </a:xfrm>
          <a:prstGeom prst="rect">
            <a:avLst/>
          </a:prstGeom>
          <a:noFill/>
        </p:spPr>
        <p:txBody>
          <a:bodyPr wrap="square">
            <a:spAutoFit/>
          </a:bodyPr>
          <a:lstStyle/>
          <a:p>
            <a:pPr marL="320040" indent="-320040">
              <a:spcAft>
                <a:spcPts val="600"/>
              </a:spcAft>
            </a:pPr>
            <a:r>
              <a:rPr sz="2200" b="1">
                <a:solidFill>
                  <a:srgbClr val="B3781A"/>
                </a:solidFill>
                <a:latin typeface="Segoe UI"/>
              </a:rPr>
              <a:t>1.	</a:t>
            </a:r>
            <a:r>
              <a:rPr sz="2200" b="0">
                <a:solidFill>
                  <a:srgbClr val="3A2414"/>
                </a:solidFill>
                <a:latin typeface="Segoe UI"/>
              </a:rPr>
              <a:t>Goal and constraints</a:t>
            </a:r>
          </a:p>
          <a:p>
            <a:pPr marL="320040" indent="-320040">
              <a:spcAft>
                <a:spcPts val="600"/>
              </a:spcAft>
            </a:pPr>
            <a:r>
              <a:rPr sz="2200" b="1">
                <a:solidFill>
                  <a:srgbClr val="B3781A"/>
                </a:solidFill>
                <a:latin typeface="Segoe UI"/>
              </a:rPr>
              <a:t>2.	</a:t>
            </a:r>
            <a:r>
              <a:rPr sz="2200" b="0">
                <a:solidFill>
                  <a:srgbClr val="3A2414"/>
                </a:solidFill>
                <a:latin typeface="Segoe UI"/>
              </a:rPr>
              <a:t>Where we are today - prototype and problems found</a:t>
            </a:r>
          </a:p>
          <a:p>
            <a:pPr marL="320040" indent="-320040">
              <a:spcAft>
                <a:spcPts val="600"/>
              </a:spcAft>
            </a:pPr>
            <a:r>
              <a:rPr sz="2200" b="1">
                <a:solidFill>
                  <a:srgbClr val="B3781A"/>
                </a:solidFill>
                <a:latin typeface="Segoe UI"/>
              </a:rPr>
              <a:t>3.	</a:t>
            </a:r>
            <a:r>
              <a:rPr sz="2200" b="0">
                <a:solidFill>
                  <a:srgbClr val="3A2414"/>
                </a:solidFill>
                <a:latin typeface="Segoe UI"/>
              </a:rPr>
              <a:t>Target system, free tools and roles</a:t>
            </a:r>
          </a:p>
          <a:p>
            <a:pPr marL="320040" indent="-320040">
              <a:spcAft>
                <a:spcPts val="600"/>
              </a:spcAft>
            </a:pPr>
            <a:r>
              <a:rPr sz="2200" b="1">
                <a:solidFill>
                  <a:srgbClr val="B3781A"/>
                </a:solidFill>
                <a:latin typeface="Segoe UI"/>
              </a:rPr>
              <a:t>4.	</a:t>
            </a:r>
            <a:r>
              <a:rPr sz="2200" b="0">
                <a:solidFill>
                  <a:srgbClr val="3A2414"/>
                </a:solidFill>
                <a:latin typeface="Segoe UI"/>
              </a:rPr>
              <a:t>Flows - end-to-end, status, payment (UML), edit window, desk, waitlist</a:t>
            </a:r>
          </a:p>
          <a:p>
            <a:pPr marL="320040" indent="-320040">
              <a:spcAft>
                <a:spcPts val="600"/>
              </a:spcAft>
            </a:pPr>
            <a:r>
              <a:rPr sz="2200" b="1">
                <a:solidFill>
                  <a:srgbClr val="B3781A"/>
                </a:solidFill>
                <a:latin typeface="Segoe UI"/>
              </a:rPr>
              <a:t>5.	</a:t>
            </a:r>
            <a:r>
              <a:rPr sz="2200" b="0">
                <a:solidFill>
                  <a:srgbClr val="3A2414"/>
                </a:solidFill>
                <a:latin typeface="Segoe UI"/>
              </a:rPr>
              <a:t>Data structure and analytics</a:t>
            </a:r>
          </a:p>
          <a:p>
            <a:pPr marL="320040" indent="-320040">
              <a:spcAft>
                <a:spcPts val="600"/>
              </a:spcAft>
            </a:pPr>
            <a:r>
              <a:rPr sz="2200" b="1">
                <a:solidFill>
                  <a:srgbClr val="B3781A"/>
                </a:solidFill>
                <a:latin typeface="Segoe UI"/>
              </a:rPr>
              <a:t>6.	</a:t>
            </a:r>
            <a:r>
              <a:rPr sz="2200" b="0">
                <a:solidFill>
                  <a:srgbClr val="3A2414"/>
                </a:solidFill>
                <a:latin typeface="Segoe UI"/>
              </a:rPr>
              <a:t>Roadmap</a:t>
            </a:r>
          </a:p>
          <a:p>
            <a:pPr marL="320040" indent="-320040">
              <a:spcAft>
                <a:spcPts val="600"/>
              </a:spcAft>
            </a:pPr>
            <a:r>
              <a:rPr sz="2200" b="1">
                <a:solidFill>
                  <a:srgbClr val="B3781A"/>
                </a:solidFill>
                <a:latin typeface="Segoe UI"/>
              </a:rPr>
              <a:t>7.	</a:t>
            </a:r>
            <a:r>
              <a:rPr sz="2200" b="0">
                <a:solidFill>
                  <a:srgbClr val="3A2414"/>
                </a:solidFill>
                <a:latin typeface="Segoe UI"/>
              </a:rPr>
              <a:t>Open questions and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Goal and constraints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a:t>
            </a:r>
          </a:p>
        </p:txBody>
      </p:sp>
      <p:sp>
        <p:nvSpPr>
          <p:cNvPr id="7" name="TextBox 6"/>
          <p:cNvSpPr txBox="1"/>
          <p:nvPr/>
        </p:nvSpPr>
        <p:spPr>
          <a:xfrm>
            <a:off x="411480" y="1280160"/>
            <a:ext cx="5501487" cy="5166360"/>
          </a:xfrm>
          <a:prstGeom prst="rect">
            <a:avLst/>
          </a:prstGeom>
          <a:noFill/>
        </p:spPr>
        <p:txBody>
          <a:bodyPr wrap="square">
            <a:spAutoFit/>
          </a:bodyPr>
          <a:lstStyle/>
          <a:p>
            <a:pPr>
              <a:spcAft>
                <a:spcPts val="800"/>
              </a:spcAft>
            </a:pPr>
            <a:r>
              <a:rPr sz="2000" b="1" dirty="0">
                <a:solidFill>
                  <a:srgbClr val="6D1F2C"/>
                </a:solidFill>
                <a:latin typeface="Georgia"/>
              </a:rPr>
              <a:t>What the tool must do</a:t>
            </a:r>
          </a:p>
          <a:p>
            <a:pPr marL="320040" indent="-320040">
              <a:spcAft>
                <a:spcPts val="600"/>
              </a:spcAft>
            </a:pPr>
            <a:r>
              <a:rPr sz="1800" b="1" dirty="0">
                <a:solidFill>
                  <a:srgbClr val="B3781A"/>
                </a:solidFill>
                <a:latin typeface="Segoe UI"/>
              </a:rPr>
              <a:t>•	</a:t>
            </a:r>
            <a:r>
              <a:rPr sz="1800" b="0" dirty="0">
                <a:solidFill>
                  <a:srgbClr val="3A2414"/>
                </a:solidFill>
                <a:latin typeface="Segoe UI"/>
              </a:rPr>
              <a:t>Invite attendees and collect RSVPs</a:t>
            </a:r>
          </a:p>
          <a:p>
            <a:pPr marL="320040" indent="-320040">
              <a:spcAft>
                <a:spcPts val="600"/>
              </a:spcAft>
            </a:pPr>
            <a:r>
              <a:rPr sz="1800" b="1" dirty="0">
                <a:solidFill>
                  <a:srgbClr val="B3781A"/>
                </a:solidFill>
                <a:latin typeface="Segoe UI"/>
              </a:rPr>
              <a:t>•	</a:t>
            </a:r>
            <a:r>
              <a:rPr sz="1800" b="0" dirty="0">
                <a:solidFill>
                  <a:srgbClr val="3A2414"/>
                </a:solidFill>
                <a:latin typeface="Segoe UI"/>
              </a:rPr>
              <a:t>Gather registration information in a structured way</a:t>
            </a:r>
          </a:p>
          <a:p>
            <a:pPr marL="320040" indent="-320040">
              <a:spcAft>
                <a:spcPts val="600"/>
              </a:spcAft>
            </a:pPr>
            <a:r>
              <a:rPr sz="1800" b="1" dirty="0">
                <a:solidFill>
                  <a:srgbClr val="B3781A"/>
                </a:solidFill>
                <a:latin typeface="Segoe UI"/>
              </a:rPr>
              <a:t>•	</a:t>
            </a:r>
            <a:r>
              <a:rPr sz="1800" b="0" dirty="0">
                <a:solidFill>
                  <a:srgbClr val="3A2414"/>
                </a:solidFill>
                <a:latin typeface="Segoe UI"/>
              </a:rPr>
              <a:t>Take payments for sevas (online and at the desk)</a:t>
            </a:r>
          </a:p>
          <a:p>
            <a:pPr marL="320040" indent="-320040">
              <a:spcAft>
                <a:spcPts val="600"/>
              </a:spcAft>
            </a:pPr>
            <a:r>
              <a:rPr sz="1800" b="1" dirty="0">
                <a:solidFill>
                  <a:srgbClr val="B3781A"/>
                </a:solidFill>
                <a:latin typeface="Segoe UI"/>
              </a:rPr>
              <a:t>•	</a:t>
            </a:r>
            <a:r>
              <a:rPr sz="1800" b="0" dirty="0">
                <a:solidFill>
                  <a:srgbClr val="3A2414"/>
                </a:solidFill>
                <a:latin typeface="Segoe UI"/>
              </a:rPr>
              <a:t>Let attendees update their registration - only during a window set by the admin</a:t>
            </a:r>
          </a:p>
          <a:p>
            <a:pPr marL="320040" indent="-320040">
              <a:spcAft>
                <a:spcPts val="600"/>
              </a:spcAft>
            </a:pPr>
            <a:r>
              <a:rPr sz="1800" b="1" dirty="0">
                <a:solidFill>
                  <a:srgbClr val="B3781A"/>
                </a:solidFill>
                <a:latin typeface="Segoe UI"/>
              </a:rPr>
              <a:t>•	</a:t>
            </a:r>
            <a:r>
              <a:rPr sz="1800" b="0" dirty="0">
                <a:solidFill>
                  <a:srgbClr val="3A2414"/>
                </a:solidFill>
                <a:latin typeface="Segoe UI"/>
              </a:rPr>
              <a:t>Separate roles: Website Admin, Ticketing Admin, Registrar</a:t>
            </a:r>
          </a:p>
          <a:p>
            <a:pPr marL="320040" indent="-320040">
              <a:spcAft>
                <a:spcPts val="600"/>
              </a:spcAft>
            </a:pPr>
            <a:r>
              <a:rPr sz="1800" b="1" dirty="0">
                <a:solidFill>
                  <a:srgbClr val="B3781A"/>
                </a:solidFill>
                <a:latin typeface="Segoe UI"/>
              </a:rPr>
              <a:t>•	</a:t>
            </a:r>
            <a:r>
              <a:rPr sz="1800" b="0" dirty="0">
                <a:solidFill>
                  <a:srgbClr val="3A2414"/>
                </a:solidFill>
                <a:latin typeface="Segoe UI"/>
              </a:rPr>
              <a:t>Backend structured for good data analysis</a:t>
            </a:r>
          </a:p>
        </p:txBody>
      </p:sp>
      <p:sp>
        <p:nvSpPr>
          <p:cNvPr id="8" name="TextBox 7"/>
          <p:cNvSpPr txBox="1"/>
          <p:nvPr/>
        </p:nvSpPr>
        <p:spPr>
          <a:xfrm>
            <a:off x="6278727" y="1280160"/>
            <a:ext cx="5501487" cy="5166360"/>
          </a:xfrm>
          <a:prstGeom prst="rect">
            <a:avLst/>
          </a:prstGeom>
          <a:noFill/>
        </p:spPr>
        <p:txBody>
          <a:bodyPr wrap="square">
            <a:spAutoFit/>
          </a:bodyPr>
          <a:lstStyle/>
          <a:p>
            <a:pPr>
              <a:spcAft>
                <a:spcPts val="800"/>
              </a:spcAft>
            </a:pPr>
            <a:r>
              <a:rPr sz="2000" b="1" dirty="0">
                <a:solidFill>
                  <a:srgbClr val="6D1F2C"/>
                </a:solidFill>
                <a:latin typeface="Georgia"/>
              </a:rPr>
              <a:t>Constraints</a:t>
            </a:r>
          </a:p>
          <a:p>
            <a:pPr marL="320040" indent="-320040">
              <a:spcAft>
                <a:spcPts val="600"/>
              </a:spcAft>
            </a:pPr>
            <a:r>
              <a:rPr sz="1800" b="1" dirty="0">
                <a:solidFill>
                  <a:srgbClr val="B3781A"/>
                </a:solidFill>
                <a:latin typeface="Segoe UI"/>
              </a:rPr>
              <a:t>•	</a:t>
            </a:r>
            <a:r>
              <a:rPr sz="1800" b="0" dirty="0">
                <a:solidFill>
                  <a:srgbClr val="3A2414"/>
                </a:solidFill>
                <a:latin typeface="Segoe UI"/>
              </a:rPr>
              <a:t>Free accounts only - no paid plans</a:t>
            </a:r>
          </a:p>
          <a:p>
            <a:pPr marL="320040" indent="-320040">
              <a:spcAft>
                <a:spcPts val="600"/>
              </a:spcAft>
            </a:pPr>
            <a:r>
              <a:rPr sz="1800" b="1" dirty="0">
                <a:solidFill>
                  <a:srgbClr val="B3781A"/>
                </a:solidFill>
                <a:latin typeface="Segoe UI"/>
              </a:rPr>
              <a:t>•	</a:t>
            </a:r>
            <a:r>
              <a:rPr sz="1800" b="0" dirty="0">
                <a:solidFill>
                  <a:srgbClr val="3A2414"/>
                </a:solidFill>
                <a:latin typeface="Segoe UI"/>
              </a:rPr>
              <a:t>We own the UX, the payment flow and all the data</a:t>
            </a:r>
          </a:p>
          <a:p>
            <a:pPr marL="320040" indent="-320040">
              <a:spcAft>
                <a:spcPts val="600"/>
              </a:spcAft>
            </a:pPr>
            <a:r>
              <a:rPr sz="1800" b="1" dirty="0">
                <a:solidFill>
                  <a:srgbClr val="B3781A"/>
                </a:solidFill>
                <a:latin typeface="Segoe UI"/>
              </a:rPr>
              <a:t>•	</a:t>
            </a:r>
            <a:r>
              <a:rPr sz="1800" b="0" dirty="0">
                <a:solidFill>
                  <a:srgbClr val="3A2414"/>
                </a:solidFill>
                <a:latin typeface="Segoe UI"/>
              </a:rPr>
              <a:t>Data stored in the EU (GDPR)</a:t>
            </a:r>
          </a:p>
          <a:p>
            <a:pPr marL="320040" indent="-320040">
              <a:spcAft>
                <a:spcPts val="600"/>
              </a:spcAft>
            </a:pPr>
            <a:r>
              <a:rPr sz="1800" b="1" dirty="0">
                <a:solidFill>
                  <a:srgbClr val="B3781A"/>
                </a:solidFill>
                <a:latin typeface="Segoe UI"/>
              </a:rPr>
              <a:t>•	</a:t>
            </a:r>
            <a:r>
              <a:rPr sz="1800" b="0" dirty="0">
                <a:solidFill>
                  <a:srgbClr val="3A2414"/>
                </a:solidFill>
                <a:latin typeface="Segoe UI"/>
              </a:rPr>
              <a:t>Run by volunteers - simple to operate</a:t>
            </a:r>
          </a:p>
          <a:p>
            <a:pPr marL="320040" indent="-320040">
              <a:spcAft>
                <a:spcPts val="600"/>
              </a:spcAft>
            </a:pPr>
            <a:r>
              <a:rPr sz="1800" b="1" dirty="0">
                <a:solidFill>
                  <a:srgbClr val="B3781A"/>
                </a:solidFill>
                <a:latin typeface="Segoe UI"/>
              </a:rPr>
              <a:t>•	</a:t>
            </a:r>
            <a:r>
              <a:rPr sz="1800" b="0" dirty="0">
                <a:solidFill>
                  <a:srgbClr val="3A2414"/>
                </a:solidFill>
                <a:latin typeface="Segoe UI"/>
              </a:rPr>
              <a:t>Only unavoidable cost: PayPal or card fees per payment</a:t>
            </a:r>
          </a:p>
          <a:p>
            <a:pPr marL="320040" indent="-320040">
              <a:spcAft>
                <a:spcPts val="600"/>
              </a:spcAft>
            </a:pPr>
            <a:r>
              <a:rPr sz="1800" b="1" dirty="0">
                <a:solidFill>
                  <a:srgbClr val="B3781A"/>
                </a:solidFill>
                <a:latin typeface="Segoe UI"/>
              </a:rPr>
              <a:t>•	</a:t>
            </a:r>
            <a:r>
              <a:rPr sz="1800" b="0" dirty="0">
                <a:solidFill>
                  <a:srgbClr val="3A2414"/>
                </a:solidFill>
                <a:latin typeface="Segoe UI"/>
              </a:rPr>
              <a:t>Bank transfer and cash are fee-free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TextBox 1"/>
          <p:cNvSpPr txBox="1"/>
          <p:nvPr/>
        </p:nvSpPr>
        <p:spPr>
          <a:xfrm>
            <a:off x="731520" y="2011680"/>
            <a:ext cx="2286000" cy="1828800"/>
          </a:xfrm>
          <a:prstGeom prst="rect">
            <a:avLst/>
          </a:prstGeom>
          <a:noFill/>
        </p:spPr>
        <p:txBody>
          <a:bodyPr wrap="square" anchor="t">
            <a:spAutoFit/>
          </a:bodyPr>
          <a:lstStyle/>
          <a:p>
            <a:pPr algn="l"/>
            <a:r>
              <a:rPr sz="9600" b="1">
                <a:solidFill>
                  <a:srgbClr val="B3781A"/>
                </a:solidFill>
                <a:latin typeface="Georgia"/>
              </a:rPr>
              <a:t>01</a:t>
            </a:r>
          </a:p>
        </p:txBody>
      </p:sp>
      <p:sp>
        <p:nvSpPr>
          <p:cNvPr id="3" name="TextBox 2"/>
          <p:cNvSpPr txBox="1"/>
          <p:nvPr/>
        </p:nvSpPr>
        <p:spPr>
          <a:xfrm>
            <a:off x="2926080" y="2377440"/>
            <a:ext cx="8686800" cy="1097280"/>
          </a:xfrm>
          <a:prstGeom prst="rect">
            <a:avLst/>
          </a:prstGeom>
          <a:noFill/>
        </p:spPr>
        <p:txBody>
          <a:bodyPr wrap="square" anchor="t">
            <a:spAutoFit/>
          </a:bodyPr>
          <a:lstStyle/>
          <a:p>
            <a:pPr algn="l"/>
            <a:r>
              <a:rPr sz="4000" b="1">
                <a:solidFill>
                  <a:srgbClr val="FFFFFF"/>
                </a:solidFill>
                <a:latin typeface="Georgia"/>
              </a:rPr>
              <a:t>Where we are today</a:t>
            </a:r>
          </a:p>
        </p:txBody>
      </p:sp>
      <p:sp>
        <p:nvSpPr>
          <p:cNvPr id="4" name="TextBox 3"/>
          <p:cNvSpPr txBox="1"/>
          <p:nvPr/>
        </p:nvSpPr>
        <p:spPr>
          <a:xfrm>
            <a:off x="2926080" y="3474720"/>
            <a:ext cx="8686800" cy="914400"/>
          </a:xfrm>
          <a:prstGeom prst="rect">
            <a:avLst/>
          </a:prstGeom>
          <a:noFill/>
        </p:spPr>
        <p:txBody>
          <a:bodyPr wrap="square" anchor="t">
            <a:spAutoFit/>
          </a:bodyPr>
          <a:lstStyle/>
          <a:p>
            <a:pPr algn="l"/>
            <a:r>
              <a:rPr sz="1800" b="0">
                <a:solidFill>
                  <a:srgbClr val="DDC79A"/>
                </a:solidFill>
                <a:latin typeface="Segoe UI"/>
              </a:rPr>
              <a:t>The prototype and the problems found in its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Current prototype</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5</a:t>
            </a:r>
          </a:p>
        </p:txBody>
      </p:sp>
      <p:graphicFrame>
        <p:nvGraphicFramePr>
          <p:cNvPr id="7" name="Table 6"/>
          <p:cNvGraphicFramePr>
            <a:graphicFrameLocks noGrp="1"/>
          </p:cNvGraphicFramePr>
          <p:nvPr/>
        </p:nvGraphicFramePr>
        <p:xfrm>
          <a:off x="411480" y="1188720"/>
          <a:ext cx="7406640" cy="2304288"/>
        </p:xfrm>
        <a:graphic>
          <a:graphicData uri="http://schemas.openxmlformats.org/drawingml/2006/table">
            <a:tbl>
              <a:tblPr firstRow="1" bandRow="1">
                <a:tableStyleId>{5C22544A-7EE6-4342-B048-85BDC9FD1C3A}</a:tableStyleId>
              </a:tblPr>
              <a:tblGrid>
                <a:gridCol w="2036826">
                  <a:extLst>
                    <a:ext uri="{9D8B030D-6E8A-4147-A177-3AD203B41FA5}">
                      <a16:colId xmlns:a16="http://schemas.microsoft.com/office/drawing/2014/main" val="20000"/>
                    </a:ext>
                  </a:extLst>
                </a:gridCol>
                <a:gridCol w="5369814">
                  <a:extLst>
                    <a:ext uri="{9D8B030D-6E8A-4147-A177-3AD203B41FA5}">
                      <a16:colId xmlns:a16="http://schemas.microsoft.com/office/drawing/2014/main" val="20001"/>
                    </a:ext>
                  </a:extLst>
                </a:gridCol>
              </a:tblGrid>
              <a:tr h="329184">
                <a:tc>
                  <a:txBody>
                    <a:bodyPr/>
                    <a:lstStyle/>
                    <a:p>
                      <a:r>
                        <a:rPr sz="1200" b="1">
                          <a:solidFill>
                            <a:srgbClr val="FFFFFF"/>
                          </a:solidFill>
                          <a:latin typeface="Segoe UI"/>
                        </a:rPr>
                        <a:t>Page</a:t>
                      </a:r>
                    </a:p>
                  </a:txBody>
                  <a:tcPr marL="73152" marR="73152" marT="36576" marB="36576" anchor="ctr">
                    <a:solidFill>
                      <a:srgbClr val="6D1F2C"/>
                    </a:solidFill>
                  </a:tcPr>
                </a:tc>
                <a:tc>
                  <a:txBody>
                    <a:bodyPr/>
                    <a:lstStyle/>
                    <a:p>
                      <a:r>
                        <a:rPr sz="1200" b="1">
                          <a:solidFill>
                            <a:srgbClr val="FFFFFF"/>
                          </a:solidFill>
                          <a:latin typeface="Segoe UI"/>
                        </a:rPr>
                        <a:t>Purpose today</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dirty="0">
                          <a:solidFill>
                            <a:srgbClr val="3A2414"/>
                          </a:solidFill>
                          <a:latin typeface="Segoe UI"/>
                        </a:rPr>
                        <a:t>index.html + app.js</a:t>
                      </a:r>
                    </a:p>
                  </a:txBody>
                  <a:tcPr marL="73152" marR="73152" marT="36576" marB="36576" anchor="ctr">
                    <a:solidFill>
                      <a:srgbClr val="FFFFFF"/>
                    </a:solidFill>
                  </a:tcPr>
                </a:tc>
                <a:tc>
                  <a:txBody>
                    <a:bodyPr/>
                    <a:lstStyle/>
                    <a:p>
                      <a:r>
                        <a:rPr sz="1200" b="0" dirty="0">
                          <a:solidFill>
                            <a:srgbClr val="3A2414"/>
                          </a:solidFill>
                          <a:latin typeface="Segoe UI"/>
                        </a:rPr>
                        <a:t>Registration form and seva selection. A free darshan is confirmed straight away. A paid seva stays pending until payment is checked.</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dirty="0">
                          <a:solidFill>
                            <a:srgbClr val="3A2414"/>
                          </a:solidFill>
                          <a:latin typeface="Segoe UI"/>
                        </a:rPr>
                        <a:t>admin.html + admin.js</a:t>
                      </a:r>
                    </a:p>
                  </a:txBody>
                  <a:tcPr marL="73152" marR="73152" marT="36576" marB="36576" anchor="ctr">
                    <a:solidFill>
                      <a:srgbClr val="F6EFE0"/>
                    </a:solidFill>
                  </a:tcPr>
                </a:tc>
                <a:tc>
                  <a:txBody>
                    <a:bodyPr/>
                    <a:lstStyle/>
                    <a:p>
                      <a:r>
                        <a:rPr sz="1200" b="0" dirty="0">
                          <a:solidFill>
                            <a:srgbClr val="3A2414"/>
                          </a:solidFill>
                          <a:latin typeface="Segoe UI"/>
                        </a:rPr>
                        <a:t>One admin login. Lists registrations, marks them paid and resends the confirmation email.</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dirty="0">
                          <a:solidFill>
                            <a:srgbClr val="3A2414"/>
                          </a:solidFill>
                          <a:latin typeface="Segoe UI"/>
                        </a:rPr>
                        <a:t>checkin.html + checkin.js</a:t>
                      </a:r>
                    </a:p>
                  </a:txBody>
                  <a:tcPr marL="73152" marR="73152" marT="36576" marB="36576" anchor="ctr">
                    <a:solidFill>
                      <a:srgbClr val="FFFFFF"/>
                    </a:solidFill>
                  </a:tcPr>
                </a:tc>
                <a:tc>
                  <a:txBody>
                    <a:bodyPr/>
                    <a:lstStyle/>
                    <a:p>
                      <a:r>
                        <a:rPr sz="1200" b="0" dirty="0">
                          <a:solidFill>
                            <a:srgbClr val="3A2414"/>
                          </a:solidFill>
                          <a:latin typeface="Segoe UI"/>
                        </a:rPr>
                        <a:t>Read-only lookup page that the QR code opens.</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dirty="0">
                          <a:solidFill>
                            <a:srgbClr val="3A2414"/>
                          </a:solidFill>
                          <a:latin typeface="Segoe UI"/>
                        </a:rPr>
                        <a:t>Code.gs</a:t>
                      </a:r>
                    </a:p>
                  </a:txBody>
                  <a:tcPr marL="73152" marR="73152" marT="36576" marB="36576" anchor="ctr">
                    <a:solidFill>
                      <a:srgbClr val="F6EFE0"/>
                    </a:solidFill>
                  </a:tcPr>
                </a:tc>
                <a:tc>
                  <a:txBody>
                    <a:bodyPr/>
                    <a:lstStyle/>
                    <a:p>
                      <a:r>
                        <a:rPr sz="1200" b="0" dirty="0">
                          <a:solidFill>
                            <a:srgbClr val="3A2414"/>
                          </a:solidFill>
                          <a:latin typeface="Segoe UI"/>
                        </a:rPr>
                        <a:t>Google Apps Script that sends the confirmation email with the QR code through Gmail.</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firestore.rules</a:t>
                      </a:r>
                    </a:p>
                  </a:txBody>
                  <a:tcPr marL="73152" marR="73152" marT="36576" marB="36576" anchor="ctr">
                    <a:solidFill>
                      <a:srgbClr val="FFFFFF"/>
                    </a:solidFill>
                  </a:tcPr>
                </a:tc>
                <a:tc>
                  <a:txBody>
                    <a:bodyPr/>
                    <a:lstStyle/>
                    <a:p>
                      <a:r>
                        <a:rPr sz="1200" b="0" dirty="0">
                          <a:solidFill>
                            <a:srgbClr val="3A2414"/>
                          </a:solidFill>
                          <a:latin typeface="Segoe UI"/>
                        </a:rPr>
                        <a:t>Database security rules: who can read and write what.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nvGraphicFramePr>
        <p:xfrm>
          <a:off x="8092440" y="1188720"/>
          <a:ext cx="3687774" cy="2414016"/>
        </p:xfrm>
        <a:graphic>
          <a:graphicData uri="http://schemas.openxmlformats.org/drawingml/2006/table">
            <a:tbl>
              <a:tblPr firstRow="1" bandRow="1">
                <a:tableStyleId>{5C22544A-7EE6-4342-B048-85BDC9FD1C3A}</a:tableStyleId>
              </a:tblPr>
              <a:tblGrid>
                <a:gridCol w="1198526">
                  <a:extLst>
                    <a:ext uri="{9D8B030D-6E8A-4147-A177-3AD203B41FA5}">
                      <a16:colId xmlns:a16="http://schemas.microsoft.com/office/drawing/2014/main" val="20000"/>
                    </a:ext>
                  </a:extLst>
                </a:gridCol>
                <a:gridCol w="2489248">
                  <a:extLst>
                    <a:ext uri="{9D8B030D-6E8A-4147-A177-3AD203B41FA5}">
                      <a16:colId xmlns:a16="http://schemas.microsoft.com/office/drawing/2014/main" val="20001"/>
                    </a:ext>
                  </a:extLst>
                </a:gridCol>
              </a:tblGrid>
              <a:tr h="329184">
                <a:tc>
                  <a:txBody>
                    <a:bodyPr/>
                    <a:lstStyle/>
                    <a:p>
                      <a:r>
                        <a:rPr sz="1200" b="1">
                          <a:solidFill>
                            <a:srgbClr val="FFFFFF"/>
                          </a:solidFill>
                          <a:latin typeface="Segoe UI"/>
                        </a:rPr>
                        <a:t>Area</a:t>
                      </a:r>
                    </a:p>
                  </a:txBody>
                  <a:tcPr marL="73152" marR="73152" marT="36576" marB="36576" anchor="ctr">
                    <a:solidFill>
                      <a:srgbClr val="6D1F2C"/>
                    </a:solidFill>
                  </a:tcPr>
                </a:tc>
                <a:tc>
                  <a:txBody>
                    <a:bodyPr/>
                    <a:lstStyle/>
                    <a:p>
                      <a:r>
                        <a:rPr sz="1200" b="1">
                          <a:solidFill>
                            <a:srgbClr val="FFFFFF"/>
                          </a:solidFill>
                          <a:latin typeface="Segoe UI"/>
                        </a:rPr>
                        <a:t>Tool</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dirty="0">
                          <a:solidFill>
                            <a:srgbClr val="3A2414"/>
                          </a:solidFill>
                          <a:latin typeface="Segoe UI"/>
                        </a:rPr>
                        <a:t>Hosting</a:t>
                      </a:r>
                    </a:p>
                  </a:txBody>
                  <a:tcPr marL="73152" marR="73152" marT="36576" marB="36576" anchor="ctr">
                    <a:solidFill>
                      <a:srgbClr val="FFFFFF"/>
                    </a:solidFill>
                  </a:tcPr>
                </a:tc>
                <a:tc>
                  <a:txBody>
                    <a:bodyPr/>
                    <a:lstStyle/>
                    <a:p>
                      <a:r>
                        <a:rPr sz="1200" b="0">
                          <a:solidFill>
                            <a:srgbClr val="3A2414"/>
                          </a:solidFill>
                          <a:latin typeface="Segoe UI"/>
                        </a:rPr>
                        <a:t>GitHub Pages</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dirty="0">
                          <a:solidFill>
                            <a:srgbClr val="3A2414"/>
                          </a:solidFill>
                          <a:latin typeface="Segoe UI"/>
                        </a:rPr>
                        <a:t>Database</a:t>
                      </a:r>
                    </a:p>
                  </a:txBody>
                  <a:tcPr marL="73152" marR="73152" marT="36576" marB="36576" anchor="ctr">
                    <a:solidFill>
                      <a:srgbClr val="F6EFE0"/>
                    </a:solidFill>
                  </a:tcPr>
                </a:tc>
                <a:tc>
                  <a:txBody>
                    <a:bodyPr/>
                    <a:lstStyle/>
                    <a:p>
                      <a:r>
                        <a:rPr sz="1200" b="0" dirty="0">
                          <a:solidFill>
                            <a:srgbClr val="3A2414"/>
                          </a:solidFill>
                          <a:latin typeface="Segoe UI"/>
                        </a:rPr>
                        <a:t>Firebase </a:t>
                      </a:r>
                      <a:r>
                        <a:rPr sz="1200" b="0" dirty="0" err="1">
                          <a:solidFill>
                            <a:srgbClr val="3A2414"/>
                          </a:solidFill>
                          <a:latin typeface="Segoe UI"/>
                        </a:rPr>
                        <a:t>Firestore</a:t>
                      </a:r>
                      <a:endParaRPr sz="1200" b="0" dirty="0">
                        <a:solidFill>
                          <a:srgbClr val="3A2414"/>
                        </a:solidFill>
                        <a:latin typeface="Segoe UI"/>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a:solidFill>
                            <a:srgbClr val="3A2414"/>
                          </a:solidFill>
                          <a:latin typeface="Segoe UI"/>
                        </a:rPr>
                        <a:t>Admin login</a:t>
                      </a:r>
                    </a:p>
                  </a:txBody>
                  <a:tcPr marL="73152" marR="73152" marT="36576" marB="36576" anchor="ctr">
                    <a:solidFill>
                      <a:srgbClr val="FFFFFF"/>
                    </a:solidFill>
                  </a:tcPr>
                </a:tc>
                <a:tc>
                  <a:txBody>
                    <a:bodyPr/>
                    <a:lstStyle/>
                    <a:p>
                      <a:r>
                        <a:rPr sz="1200" b="0" dirty="0">
                          <a:solidFill>
                            <a:srgbClr val="3A2414"/>
                          </a:solidFill>
                          <a:latin typeface="Segoe UI"/>
                        </a:rPr>
                        <a:t>Firebase Auth</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a:solidFill>
                            <a:srgbClr val="3A2414"/>
                          </a:solidFill>
                          <a:latin typeface="Segoe UI"/>
                        </a:rPr>
                        <a:t>Email</a:t>
                      </a:r>
                    </a:p>
                  </a:txBody>
                  <a:tcPr marL="73152" marR="73152" marT="36576" marB="36576" anchor="ctr">
                    <a:solidFill>
                      <a:srgbClr val="F6EFE0"/>
                    </a:solidFill>
                  </a:tcPr>
                </a:tc>
                <a:tc>
                  <a:txBody>
                    <a:bodyPr/>
                    <a:lstStyle/>
                    <a:p>
                      <a:r>
                        <a:rPr sz="1200" b="0" dirty="0">
                          <a:solidFill>
                            <a:srgbClr val="3A2414"/>
                          </a:solidFill>
                          <a:latin typeface="Segoe UI"/>
                        </a:rPr>
                        <a:t>Apps Script and Gmail</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Payment</a:t>
                      </a:r>
                    </a:p>
                  </a:txBody>
                  <a:tcPr marL="73152" marR="73152" marT="36576" marB="36576" anchor="ctr">
                    <a:solidFill>
                      <a:srgbClr val="FFFFFF"/>
                    </a:solidFill>
                  </a:tcPr>
                </a:tc>
                <a:tc>
                  <a:txBody>
                    <a:bodyPr/>
                    <a:lstStyle/>
                    <a:p>
                      <a:r>
                        <a:rPr sz="1200" b="0" dirty="0">
                          <a:solidFill>
                            <a:srgbClr val="3A2414"/>
                          </a:solidFill>
                          <a:latin typeface="Segoe UI"/>
                        </a:rPr>
                        <a:t>A paypal.me link and bank transfer, checked by hand</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200" b="1">
                          <a:solidFill>
                            <a:srgbClr val="3A2414"/>
                          </a:solidFill>
                          <a:latin typeface="Segoe UI"/>
                        </a:rPr>
                        <a:t>QR codes</a:t>
                      </a:r>
                    </a:p>
                  </a:txBody>
                  <a:tcPr marL="73152" marR="73152" marT="36576" marB="36576" anchor="ctr">
                    <a:solidFill>
                      <a:srgbClr val="F6EFE0"/>
                    </a:solidFill>
                  </a:tcPr>
                </a:tc>
                <a:tc>
                  <a:txBody>
                    <a:bodyPr/>
                    <a:lstStyle/>
                    <a:p>
                      <a:r>
                        <a:rPr sz="1200" b="0" dirty="0">
                          <a:solidFill>
                            <a:srgbClr val="3A2414"/>
                          </a:solidFill>
                          <a:latin typeface="Segoe UI"/>
                        </a:rPr>
                        <a:t>qrcode.min.js</a:t>
                      </a: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Problems found in the current code  (1/2)</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6</a:t>
            </a:r>
          </a:p>
        </p:txBody>
      </p:sp>
      <p:graphicFrame>
        <p:nvGraphicFramePr>
          <p:cNvPr id="7" name="Table 6"/>
          <p:cNvGraphicFramePr>
            <a:graphicFrameLocks noGrp="1"/>
          </p:cNvGraphicFramePr>
          <p:nvPr/>
        </p:nvGraphicFramePr>
        <p:xfrm>
          <a:off x="411480" y="1188720"/>
          <a:ext cx="11368733" cy="3218688"/>
        </p:xfrm>
        <a:graphic>
          <a:graphicData uri="http://schemas.openxmlformats.org/drawingml/2006/table">
            <a:tbl>
              <a:tblPr firstRow="1" bandRow="1">
                <a:tableStyleId>{5C22544A-7EE6-4342-B048-85BDC9FD1C3A}</a:tableStyleId>
              </a:tblPr>
              <a:tblGrid>
                <a:gridCol w="424999">
                  <a:extLst>
                    <a:ext uri="{9D8B030D-6E8A-4147-A177-3AD203B41FA5}">
                      <a16:colId xmlns:a16="http://schemas.microsoft.com/office/drawing/2014/main" val="20000"/>
                    </a:ext>
                  </a:extLst>
                </a:gridCol>
                <a:gridCol w="5524992">
                  <a:extLst>
                    <a:ext uri="{9D8B030D-6E8A-4147-A177-3AD203B41FA5}">
                      <a16:colId xmlns:a16="http://schemas.microsoft.com/office/drawing/2014/main" val="20001"/>
                    </a:ext>
                  </a:extLst>
                </a:gridCol>
                <a:gridCol w="2762496">
                  <a:extLst>
                    <a:ext uri="{9D8B030D-6E8A-4147-A177-3AD203B41FA5}">
                      <a16:colId xmlns:a16="http://schemas.microsoft.com/office/drawing/2014/main" val="20002"/>
                    </a:ext>
                  </a:extLst>
                </a:gridCol>
                <a:gridCol w="1487498">
                  <a:extLst>
                    <a:ext uri="{9D8B030D-6E8A-4147-A177-3AD203B41FA5}">
                      <a16:colId xmlns:a16="http://schemas.microsoft.com/office/drawing/2014/main" val="20003"/>
                    </a:ext>
                  </a:extLst>
                </a:gridCol>
                <a:gridCol w="1168748">
                  <a:extLst>
                    <a:ext uri="{9D8B030D-6E8A-4147-A177-3AD203B41FA5}">
                      <a16:colId xmlns:a16="http://schemas.microsoft.com/office/drawing/2014/main" val="20004"/>
                    </a:ext>
                  </a:extLst>
                </a:gridCol>
              </a:tblGrid>
              <a:tr h="329184">
                <a:tc>
                  <a:txBody>
                    <a:bodyPr/>
                    <a:lstStyle/>
                    <a:p>
                      <a:r>
                        <a:rPr sz="1200" b="1">
                          <a:solidFill>
                            <a:srgbClr val="FFFFFF"/>
                          </a:solidFill>
                          <a:latin typeface="Segoe UI"/>
                        </a:rPr>
                        <a:t>#</a:t>
                      </a:r>
                    </a:p>
                  </a:txBody>
                  <a:tcPr marL="73152" marR="73152" marT="36576" marB="36576" anchor="ctr">
                    <a:solidFill>
                      <a:srgbClr val="6D1F2C"/>
                    </a:solidFill>
                  </a:tcPr>
                </a:tc>
                <a:tc>
                  <a:txBody>
                    <a:bodyPr/>
                    <a:lstStyle/>
                    <a:p>
                      <a:r>
                        <a:rPr sz="1200" b="1">
                          <a:solidFill>
                            <a:srgbClr val="FFFFFF"/>
                          </a:solidFill>
                          <a:latin typeface="Segoe UI"/>
                        </a:rPr>
                        <a:t>Problem</a:t>
                      </a:r>
                    </a:p>
                  </a:txBody>
                  <a:tcPr marL="73152" marR="73152" marT="36576" marB="36576" anchor="ctr">
                    <a:solidFill>
                      <a:srgbClr val="6D1F2C"/>
                    </a:solidFill>
                  </a:tcPr>
                </a:tc>
                <a:tc>
                  <a:txBody>
                    <a:bodyPr/>
                    <a:lstStyle/>
                    <a:p>
                      <a:r>
                        <a:rPr sz="1200" b="1">
                          <a:solidFill>
                            <a:srgbClr val="FFFFFF"/>
                          </a:solidFill>
                          <a:latin typeface="Segoe UI"/>
                        </a:rPr>
                        <a:t>Where</a:t>
                      </a:r>
                    </a:p>
                  </a:txBody>
                  <a:tcPr marL="73152" marR="73152" marT="36576" marB="36576" anchor="ctr">
                    <a:solidFill>
                      <a:srgbClr val="6D1F2C"/>
                    </a:solidFill>
                  </a:tcPr>
                </a:tc>
                <a:tc>
                  <a:txBody>
                    <a:bodyPr/>
                    <a:lstStyle/>
                    <a:p>
                      <a:r>
                        <a:rPr sz="1200" b="1">
                          <a:solidFill>
                            <a:srgbClr val="FFFFFF"/>
                          </a:solidFill>
                          <a:latin typeface="Segoe UI"/>
                        </a:rPr>
                        <a:t>Risk</a:t>
                      </a:r>
                    </a:p>
                  </a:txBody>
                  <a:tcPr marL="73152" marR="73152" marT="36576" marB="36576" anchor="ctr">
                    <a:solidFill>
                      <a:srgbClr val="6D1F2C"/>
                    </a:solidFill>
                  </a:tcPr>
                </a:tc>
                <a:tc>
                  <a:txBody>
                    <a:bodyPr/>
                    <a:lstStyle/>
                    <a:p>
                      <a:r>
                        <a:rPr sz="1200" b="1">
                          <a:solidFill>
                            <a:srgbClr val="FFFFFF"/>
                          </a:solidFill>
                          <a:latin typeface="Segoe UI"/>
                        </a:rPr>
                        <a:t>Fix in phase</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a:solidFill>
                            <a:srgbClr val="3A2414"/>
                          </a:solidFill>
                          <a:latin typeface="Segoe UI"/>
                        </a:rPr>
                        <a:t>1</a:t>
                      </a:r>
                    </a:p>
                  </a:txBody>
                  <a:tcPr marL="73152" marR="73152" marT="36576" marB="36576" anchor="ctr">
                    <a:solidFill>
                      <a:srgbClr val="FFFFFF"/>
                    </a:solidFill>
                  </a:tcPr>
                </a:tc>
                <a:tc>
                  <a:txBody>
                    <a:bodyPr/>
                    <a:lstStyle/>
                    <a:p>
                      <a:r>
                        <a:rPr sz="1200" b="0" dirty="0">
                          <a:solidFill>
                            <a:srgbClr val="3A2414"/>
                          </a:solidFill>
                          <a:latin typeface="Segoe UI"/>
                        </a:rPr>
                        <a:t>Registration IDs are just timestamps (REG-&lt;</a:t>
                      </a:r>
                      <a:r>
                        <a:rPr sz="1200" b="0" dirty="0" err="1">
                          <a:solidFill>
                            <a:srgbClr val="3A2414"/>
                          </a:solidFill>
                          <a:latin typeface="Segoe UI"/>
                        </a:rPr>
                        <a:t>ms</a:t>
                      </a:r>
                      <a:r>
                        <a:rPr sz="1200" b="0" dirty="0">
                          <a:solidFill>
                            <a:srgbClr val="3A2414"/>
                          </a:solidFill>
                          <a:latin typeface="Segoe UI"/>
                        </a:rPr>
                        <a:t>&gt;), so they are easy to guess. The rules let anyone read a single registration by its ID, and that returns the full record, including email, phone and address. Anyone who guesses IDs can read personal data.</a:t>
                      </a:r>
                    </a:p>
                  </a:txBody>
                  <a:tcPr marL="73152" marR="73152" marT="36576" marB="36576" anchor="ctr">
                    <a:solidFill>
                      <a:srgbClr val="FFFFFF"/>
                    </a:solidFill>
                  </a:tcPr>
                </a:tc>
                <a:tc>
                  <a:txBody>
                    <a:bodyPr/>
                    <a:lstStyle/>
                    <a:p>
                      <a:r>
                        <a:rPr sz="1200" b="0">
                          <a:solidFill>
                            <a:srgbClr val="3A2414"/>
                          </a:solidFill>
                          <a:latin typeface="Segoe UI"/>
                        </a:rPr>
                        <a:t>app.js completeRegistration, firestore.rules allow get</a:t>
                      </a:r>
                    </a:p>
                  </a:txBody>
                  <a:tcPr marL="73152" marR="73152" marT="36576" marB="36576" anchor="ctr">
                    <a:solidFill>
                      <a:srgbClr val="FFFFFF"/>
                    </a:solidFill>
                  </a:tcPr>
                </a:tc>
                <a:tc>
                  <a:txBody>
                    <a:bodyPr/>
                    <a:lstStyle/>
                    <a:p>
                      <a:r>
                        <a:rPr sz="1200" b="0">
                          <a:solidFill>
                            <a:srgbClr val="3A2414"/>
                          </a:solidFill>
                          <a:latin typeface="Segoe UI"/>
                        </a:rPr>
                        <a:t>High (GDPR)</a:t>
                      </a:r>
                    </a:p>
                  </a:txBody>
                  <a:tcPr marL="73152" marR="73152" marT="36576" marB="36576" anchor="ctr">
                    <a:solidFill>
                      <a:srgbClr val="FFFFFF"/>
                    </a:solidFill>
                  </a:tcPr>
                </a:tc>
                <a:tc>
                  <a:txBody>
                    <a:bodyPr/>
                    <a:lstStyle/>
                    <a:p>
                      <a:r>
                        <a:rPr sz="1200" b="0">
                          <a:solidFill>
                            <a:srgbClr val="3A2414"/>
                          </a:solidFill>
                          <a:latin typeface="Segoe UI"/>
                        </a:rPr>
                        <a:t>P0</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a:solidFill>
                            <a:srgbClr val="3A2414"/>
                          </a:solidFill>
                          <a:latin typeface="Segoe UI"/>
                        </a:rPr>
                        <a:t>2</a:t>
                      </a:r>
                    </a:p>
                  </a:txBody>
                  <a:tcPr marL="73152" marR="73152" marT="36576" marB="36576" anchor="ctr">
                    <a:solidFill>
                      <a:srgbClr val="F6EFE0"/>
                    </a:solidFill>
                  </a:tcPr>
                </a:tc>
                <a:tc>
                  <a:txBody>
                    <a:bodyPr/>
                    <a:lstStyle/>
                    <a:p>
                      <a:r>
                        <a:rPr sz="1200" b="0" dirty="0">
                          <a:solidFill>
                            <a:srgbClr val="3A2414"/>
                          </a:solidFill>
                          <a:latin typeface="Segoe UI"/>
                        </a:rPr>
                        <a:t>Someone can submit sevas with a total of €0 and a status of "no payment needed". They then get a confirmed QR code and email without paying.</a:t>
                      </a:r>
                    </a:p>
                  </a:txBody>
                  <a:tcPr marL="73152" marR="73152" marT="36576" marB="36576" anchor="ctr">
                    <a:solidFill>
                      <a:srgbClr val="F6EFE0"/>
                    </a:solidFill>
                  </a:tcPr>
                </a:tc>
                <a:tc>
                  <a:txBody>
                    <a:bodyPr/>
                    <a:lstStyle/>
                    <a:p>
                      <a:r>
                        <a:rPr sz="1200" b="0">
                          <a:solidFill>
                            <a:srgbClr val="3A2414"/>
                          </a:solidFill>
                          <a:latin typeface="Segoe UI"/>
                        </a:rPr>
                        <a:t>firestore.rules allow create</a:t>
                      </a:r>
                    </a:p>
                  </a:txBody>
                  <a:tcPr marL="73152" marR="73152" marT="36576" marB="36576" anchor="ctr">
                    <a:solidFill>
                      <a:srgbClr val="F6EFE0"/>
                    </a:solidFill>
                  </a:tcPr>
                </a:tc>
                <a:tc>
                  <a:txBody>
                    <a:bodyPr/>
                    <a:lstStyle/>
                    <a:p>
                      <a:r>
                        <a:rPr sz="1200" b="0">
                          <a:solidFill>
                            <a:srgbClr val="3A2414"/>
                          </a:solidFill>
                          <a:latin typeface="Segoe UI"/>
                        </a:rPr>
                        <a:t>High</a:t>
                      </a:r>
                    </a:p>
                  </a:txBody>
                  <a:tcPr marL="73152" marR="73152" marT="36576" marB="36576" anchor="ctr">
                    <a:solidFill>
                      <a:srgbClr val="F6EFE0"/>
                    </a:solidFill>
                  </a:tcPr>
                </a:tc>
                <a:tc>
                  <a:txBody>
                    <a:bodyPr/>
                    <a:lstStyle/>
                    <a:p>
                      <a:r>
                        <a:rPr sz="1200" b="0">
                          <a:solidFill>
                            <a:srgbClr val="3A2414"/>
                          </a:solidFill>
                          <a:latin typeface="Segoe UI"/>
                        </a:rPr>
                        <a:t>P0</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a:solidFill>
                            <a:srgbClr val="3A2414"/>
                          </a:solidFill>
                          <a:latin typeface="Segoe UI"/>
                        </a:rPr>
                        <a:t>3</a:t>
                      </a:r>
                    </a:p>
                  </a:txBody>
                  <a:tcPr marL="73152" marR="73152" marT="36576" marB="36576" anchor="ctr">
                    <a:solidFill>
                      <a:srgbClr val="FFFFFF"/>
                    </a:solidFill>
                  </a:tcPr>
                </a:tc>
                <a:tc>
                  <a:txBody>
                    <a:bodyPr/>
                    <a:lstStyle/>
                    <a:p>
                      <a:r>
                        <a:rPr sz="1200" b="0">
                          <a:solidFill>
                            <a:srgbClr val="3A2414"/>
                          </a:solidFill>
                          <a:latin typeface="Segoe UI"/>
                        </a:rPr>
                        <a:t>The page shows success before the database save has finished. The free-darshan email can be rejected because the record isn't saved yet.</a:t>
                      </a:r>
                    </a:p>
                  </a:txBody>
                  <a:tcPr marL="73152" marR="73152" marT="36576" marB="36576" anchor="ctr">
                    <a:solidFill>
                      <a:srgbClr val="FFFFFF"/>
                    </a:solidFill>
                  </a:tcPr>
                </a:tc>
                <a:tc>
                  <a:txBody>
                    <a:bodyPr/>
                    <a:lstStyle/>
                    <a:p>
                      <a:r>
                        <a:rPr sz="1200" b="0">
                          <a:solidFill>
                            <a:srgbClr val="3A2414"/>
                          </a:solidFill>
                          <a:latin typeface="Segoe UI"/>
                        </a:rPr>
                        <a:t>app.js saveRegistration</a:t>
                      </a:r>
                    </a:p>
                  </a:txBody>
                  <a:tcPr marL="73152" marR="73152" marT="36576" marB="36576" anchor="ctr">
                    <a:solidFill>
                      <a:srgbClr val="FFFFFF"/>
                    </a:solidFill>
                  </a:tcPr>
                </a:tc>
                <a:tc>
                  <a:txBody>
                    <a:bodyPr/>
                    <a:lstStyle/>
                    <a:p>
                      <a:r>
                        <a:rPr sz="1200" b="0">
                          <a:solidFill>
                            <a:srgbClr val="3A2414"/>
                          </a:solidFill>
                          <a:latin typeface="Segoe UI"/>
                        </a:rPr>
                        <a:t>Medium</a:t>
                      </a:r>
                    </a:p>
                  </a:txBody>
                  <a:tcPr marL="73152" marR="73152" marT="36576" marB="36576" anchor="ctr">
                    <a:solidFill>
                      <a:srgbClr val="FFFFFF"/>
                    </a:solidFill>
                  </a:tcPr>
                </a:tc>
                <a:tc>
                  <a:txBody>
                    <a:bodyPr/>
                    <a:lstStyle/>
                    <a:p>
                      <a:r>
                        <a:rPr sz="1200" b="0">
                          <a:solidFill>
                            <a:srgbClr val="3A2414"/>
                          </a:solidFill>
                          <a:latin typeface="Segoe UI"/>
                        </a:rPr>
                        <a:t>P0</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a:solidFill>
                            <a:srgbClr val="3A2414"/>
                          </a:solidFill>
                          <a:latin typeface="Segoe UI"/>
                        </a:rPr>
                        <a:t>4</a:t>
                      </a:r>
                    </a:p>
                  </a:txBody>
                  <a:tcPr marL="73152" marR="73152" marT="36576" marB="36576" anchor="ctr">
                    <a:solidFill>
                      <a:srgbClr val="F6EFE0"/>
                    </a:solidFill>
                  </a:tcPr>
                </a:tc>
                <a:tc>
                  <a:txBody>
                    <a:bodyPr/>
                    <a:lstStyle/>
                    <a:p>
                      <a:r>
                        <a:rPr sz="1200" b="0">
                          <a:solidFill>
                            <a:srgbClr val="3A2414"/>
                          </a:solidFill>
                          <a:latin typeface="Segoe UI"/>
                        </a:rPr>
                        <a:t>The check-in page expects the status confirmed, but the admin page writes paid. Paid registrations show the raw word "paid".</a:t>
                      </a:r>
                    </a:p>
                  </a:txBody>
                  <a:tcPr marL="73152" marR="73152" marT="36576" marB="36576" anchor="ctr">
                    <a:solidFill>
                      <a:srgbClr val="F6EFE0"/>
                    </a:solidFill>
                  </a:tcPr>
                </a:tc>
                <a:tc>
                  <a:txBody>
                    <a:bodyPr/>
                    <a:lstStyle/>
                    <a:p>
                      <a:r>
                        <a:rPr sz="1200" b="0">
                          <a:solidFill>
                            <a:srgbClr val="3A2414"/>
                          </a:solidFill>
                          <a:latin typeface="Segoe UI"/>
                        </a:rPr>
                        <a:t>checkin.js STATUS_LABELS</a:t>
                      </a:r>
                    </a:p>
                  </a:txBody>
                  <a:tcPr marL="73152" marR="73152" marT="36576" marB="36576" anchor="ctr">
                    <a:solidFill>
                      <a:srgbClr val="F6EFE0"/>
                    </a:solidFill>
                  </a:tcPr>
                </a:tc>
                <a:tc>
                  <a:txBody>
                    <a:bodyPr/>
                    <a:lstStyle/>
                    <a:p>
                      <a:r>
                        <a:rPr sz="1200" b="0">
                          <a:solidFill>
                            <a:srgbClr val="3A2414"/>
                          </a:solidFill>
                          <a:latin typeface="Segoe UI"/>
                        </a:rPr>
                        <a:t>Low</a:t>
                      </a:r>
                    </a:p>
                  </a:txBody>
                  <a:tcPr marL="73152" marR="73152" marT="36576" marB="36576" anchor="ctr">
                    <a:solidFill>
                      <a:srgbClr val="F6EFE0"/>
                    </a:solidFill>
                  </a:tcPr>
                </a:tc>
                <a:tc>
                  <a:txBody>
                    <a:bodyPr/>
                    <a:lstStyle/>
                    <a:p>
                      <a:r>
                        <a:rPr sz="1200" b="0">
                          <a:solidFill>
                            <a:srgbClr val="3A2414"/>
                          </a:solidFill>
                          <a:latin typeface="Segoe UI"/>
                        </a:rPr>
                        <a:t>P0</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5</a:t>
                      </a:r>
                    </a:p>
                  </a:txBody>
                  <a:tcPr marL="73152" marR="73152" marT="36576" marB="36576" anchor="ctr">
                    <a:solidFill>
                      <a:srgbClr val="FFFFFF"/>
                    </a:solidFill>
                  </a:tcPr>
                </a:tc>
                <a:tc>
                  <a:txBody>
                    <a:bodyPr/>
                    <a:lstStyle/>
                    <a:p>
                      <a:r>
                        <a:rPr sz="1200" b="0">
                          <a:solidFill>
                            <a:srgbClr val="3A2414"/>
                          </a:solidFill>
                          <a:latin typeface="Segoe UI"/>
                        </a:rPr>
                        <a:t>Only one admin, and it is a personal Gmail address written directly into the rules.</a:t>
                      </a:r>
                    </a:p>
                  </a:txBody>
                  <a:tcPr marL="73152" marR="73152" marT="36576" marB="36576" anchor="ctr">
                    <a:solidFill>
                      <a:srgbClr val="FFFFFF"/>
                    </a:solidFill>
                  </a:tcPr>
                </a:tc>
                <a:tc>
                  <a:txBody>
                    <a:bodyPr/>
                    <a:lstStyle/>
                    <a:p>
                      <a:r>
                        <a:rPr sz="1200" b="0">
                          <a:solidFill>
                            <a:srgbClr val="3A2414"/>
                          </a:solidFill>
                          <a:latin typeface="Segoe UI"/>
                        </a:rPr>
                        <a:t>firestore.rules isAdmin()</a:t>
                      </a:r>
                    </a:p>
                  </a:txBody>
                  <a:tcPr marL="73152" marR="73152" marT="36576" marB="36576" anchor="ctr">
                    <a:solidFill>
                      <a:srgbClr val="FFFFFF"/>
                    </a:solidFill>
                  </a:tcPr>
                </a:tc>
                <a:tc>
                  <a:txBody>
                    <a:bodyPr/>
                    <a:lstStyle/>
                    <a:p>
                      <a:r>
                        <a:rPr sz="1200" b="0">
                          <a:solidFill>
                            <a:srgbClr val="3A2414"/>
                          </a:solidFill>
                          <a:latin typeface="Segoe UI"/>
                        </a:rPr>
                        <a:t>Medium</a:t>
                      </a:r>
                    </a:p>
                  </a:txBody>
                  <a:tcPr marL="73152" marR="73152" marT="36576" marB="36576" anchor="ctr">
                    <a:solidFill>
                      <a:srgbClr val="FFFFFF"/>
                    </a:solidFill>
                  </a:tcPr>
                </a:tc>
                <a:tc>
                  <a:txBody>
                    <a:bodyPr/>
                    <a:lstStyle/>
                    <a:p>
                      <a:r>
                        <a:rPr sz="1200" b="0">
                          <a:solidFill>
                            <a:srgbClr val="3A2414"/>
                          </a:solidFill>
                          <a:latin typeface="Segoe UI"/>
                        </a:rPr>
                        <a:t>P1</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200" b="1">
                          <a:solidFill>
                            <a:srgbClr val="3A2414"/>
                          </a:solidFill>
                          <a:latin typeface="Segoe UI"/>
                        </a:rPr>
                        <a:t>6</a:t>
                      </a:r>
                    </a:p>
                  </a:txBody>
                  <a:tcPr marL="73152" marR="73152" marT="36576" marB="36576" anchor="ctr">
                    <a:solidFill>
                      <a:srgbClr val="F6EFE0"/>
                    </a:solidFill>
                  </a:tcPr>
                </a:tc>
                <a:tc>
                  <a:txBody>
                    <a:bodyPr/>
                    <a:lstStyle/>
                    <a:p>
                      <a:r>
                        <a:rPr sz="1200" b="0">
                          <a:solidFill>
                            <a:srgbClr val="3A2414"/>
                          </a:solidFill>
                          <a:latin typeface="Segoe UI"/>
                        </a:rPr>
                        <a:t>A user can click "Confirm Registration" without actually paying.</a:t>
                      </a:r>
                    </a:p>
                  </a:txBody>
                  <a:tcPr marL="73152" marR="73152" marT="36576" marB="36576" anchor="ctr">
                    <a:solidFill>
                      <a:srgbClr val="F6EFE0"/>
                    </a:solidFill>
                  </a:tcPr>
                </a:tc>
                <a:tc>
                  <a:txBody>
                    <a:bodyPr/>
                    <a:lstStyle/>
                    <a:p>
                      <a:r>
                        <a:rPr sz="1200" b="0">
                          <a:solidFill>
                            <a:srgbClr val="3A2414"/>
                          </a:solidFill>
                          <a:latin typeface="Segoe UI"/>
                        </a:rPr>
                        <a:t>app.js</a:t>
                      </a:r>
                    </a:p>
                  </a:txBody>
                  <a:tcPr marL="73152" marR="73152" marT="36576" marB="36576" anchor="ctr">
                    <a:solidFill>
                      <a:srgbClr val="F6EFE0"/>
                    </a:solidFill>
                  </a:tcPr>
                </a:tc>
                <a:tc>
                  <a:txBody>
                    <a:bodyPr/>
                    <a:lstStyle/>
                    <a:p>
                      <a:r>
                        <a:rPr sz="1200" b="0">
                          <a:solidFill>
                            <a:srgbClr val="3A2414"/>
                          </a:solidFill>
                          <a:latin typeface="Segoe UI"/>
                        </a:rPr>
                        <a:t>Medium</a:t>
                      </a:r>
                    </a:p>
                  </a:txBody>
                  <a:tcPr marL="73152" marR="73152" marT="36576" marB="36576" anchor="ctr">
                    <a:solidFill>
                      <a:srgbClr val="F6EFE0"/>
                    </a:solidFill>
                  </a:tcPr>
                </a:tc>
                <a:tc>
                  <a:txBody>
                    <a:bodyPr/>
                    <a:lstStyle/>
                    <a:p>
                      <a:r>
                        <a:rPr sz="1200" b="0" dirty="0">
                          <a:solidFill>
                            <a:srgbClr val="3A2414"/>
                          </a:solidFill>
                          <a:latin typeface="Segoe UI"/>
                        </a:rPr>
                        <a:t>P4</a:t>
                      </a: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Problems found in the current code  (2/2)</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7</a:t>
            </a:r>
          </a:p>
        </p:txBody>
      </p:sp>
      <p:graphicFrame>
        <p:nvGraphicFramePr>
          <p:cNvPr id="7" name="Table 6"/>
          <p:cNvGraphicFramePr>
            <a:graphicFrameLocks noGrp="1"/>
          </p:cNvGraphicFramePr>
          <p:nvPr/>
        </p:nvGraphicFramePr>
        <p:xfrm>
          <a:off x="411480" y="1188720"/>
          <a:ext cx="11368733" cy="2487168"/>
        </p:xfrm>
        <a:graphic>
          <a:graphicData uri="http://schemas.openxmlformats.org/drawingml/2006/table">
            <a:tbl>
              <a:tblPr firstRow="1" bandRow="1">
                <a:tableStyleId>{5C22544A-7EE6-4342-B048-85BDC9FD1C3A}</a:tableStyleId>
              </a:tblPr>
              <a:tblGrid>
                <a:gridCol w="424999">
                  <a:extLst>
                    <a:ext uri="{9D8B030D-6E8A-4147-A177-3AD203B41FA5}">
                      <a16:colId xmlns:a16="http://schemas.microsoft.com/office/drawing/2014/main" val="20000"/>
                    </a:ext>
                  </a:extLst>
                </a:gridCol>
                <a:gridCol w="5524992">
                  <a:extLst>
                    <a:ext uri="{9D8B030D-6E8A-4147-A177-3AD203B41FA5}">
                      <a16:colId xmlns:a16="http://schemas.microsoft.com/office/drawing/2014/main" val="20001"/>
                    </a:ext>
                  </a:extLst>
                </a:gridCol>
                <a:gridCol w="2762496">
                  <a:extLst>
                    <a:ext uri="{9D8B030D-6E8A-4147-A177-3AD203B41FA5}">
                      <a16:colId xmlns:a16="http://schemas.microsoft.com/office/drawing/2014/main" val="20002"/>
                    </a:ext>
                  </a:extLst>
                </a:gridCol>
                <a:gridCol w="1487498">
                  <a:extLst>
                    <a:ext uri="{9D8B030D-6E8A-4147-A177-3AD203B41FA5}">
                      <a16:colId xmlns:a16="http://schemas.microsoft.com/office/drawing/2014/main" val="20003"/>
                    </a:ext>
                  </a:extLst>
                </a:gridCol>
                <a:gridCol w="1168748">
                  <a:extLst>
                    <a:ext uri="{9D8B030D-6E8A-4147-A177-3AD203B41FA5}">
                      <a16:colId xmlns:a16="http://schemas.microsoft.com/office/drawing/2014/main" val="20004"/>
                    </a:ext>
                  </a:extLst>
                </a:gridCol>
              </a:tblGrid>
              <a:tr h="329184">
                <a:tc>
                  <a:txBody>
                    <a:bodyPr/>
                    <a:lstStyle/>
                    <a:p>
                      <a:r>
                        <a:rPr sz="1200" b="1">
                          <a:solidFill>
                            <a:srgbClr val="FFFFFF"/>
                          </a:solidFill>
                          <a:latin typeface="Segoe UI"/>
                        </a:rPr>
                        <a:t>#</a:t>
                      </a:r>
                    </a:p>
                  </a:txBody>
                  <a:tcPr marL="73152" marR="73152" marT="36576" marB="36576" anchor="ctr">
                    <a:solidFill>
                      <a:srgbClr val="6D1F2C"/>
                    </a:solidFill>
                  </a:tcPr>
                </a:tc>
                <a:tc>
                  <a:txBody>
                    <a:bodyPr/>
                    <a:lstStyle/>
                    <a:p>
                      <a:r>
                        <a:rPr sz="1200" b="1">
                          <a:solidFill>
                            <a:srgbClr val="FFFFFF"/>
                          </a:solidFill>
                          <a:latin typeface="Segoe UI"/>
                        </a:rPr>
                        <a:t>Problem</a:t>
                      </a:r>
                    </a:p>
                  </a:txBody>
                  <a:tcPr marL="73152" marR="73152" marT="36576" marB="36576" anchor="ctr">
                    <a:solidFill>
                      <a:srgbClr val="6D1F2C"/>
                    </a:solidFill>
                  </a:tcPr>
                </a:tc>
                <a:tc>
                  <a:txBody>
                    <a:bodyPr/>
                    <a:lstStyle/>
                    <a:p>
                      <a:r>
                        <a:rPr sz="1200" b="1">
                          <a:solidFill>
                            <a:srgbClr val="FFFFFF"/>
                          </a:solidFill>
                          <a:latin typeface="Segoe UI"/>
                        </a:rPr>
                        <a:t>Where</a:t>
                      </a:r>
                    </a:p>
                  </a:txBody>
                  <a:tcPr marL="73152" marR="73152" marT="36576" marB="36576" anchor="ctr">
                    <a:solidFill>
                      <a:srgbClr val="6D1F2C"/>
                    </a:solidFill>
                  </a:tcPr>
                </a:tc>
                <a:tc>
                  <a:txBody>
                    <a:bodyPr/>
                    <a:lstStyle/>
                    <a:p>
                      <a:r>
                        <a:rPr sz="1200" b="1">
                          <a:solidFill>
                            <a:srgbClr val="FFFFFF"/>
                          </a:solidFill>
                          <a:latin typeface="Segoe UI"/>
                        </a:rPr>
                        <a:t>Risk</a:t>
                      </a:r>
                    </a:p>
                  </a:txBody>
                  <a:tcPr marL="73152" marR="73152" marT="36576" marB="36576" anchor="ctr">
                    <a:solidFill>
                      <a:srgbClr val="6D1F2C"/>
                    </a:solidFill>
                  </a:tcPr>
                </a:tc>
                <a:tc>
                  <a:txBody>
                    <a:bodyPr/>
                    <a:lstStyle/>
                    <a:p>
                      <a:r>
                        <a:rPr sz="1200" b="1">
                          <a:solidFill>
                            <a:srgbClr val="FFFFFF"/>
                          </a:solidFill>
                          <a:latin typeface="Segoe UI"/>
                        </a:rPr>
                        <a:t>Fix in phase</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a:solidFill>
                            <a:srgbClr val="3A2414"/>
                          </a:solidFill>
                          <a:latin typeface="Segoe UI"/>
                        </a:rPr>
                        <a:t>7</a:t>
                      </a:r>
                    </a:p>
                  </a:txBody>
                  <a:tcPr marL="73152" marR="73152" marT="36576" marB="36576" anchor="ctr">
                    <a:solidFill>
                      <a:srgbClr val="FFFFFF"/>
                    </a:solidFill>
                  </a:tcPr>
                </a:tc>
                <a:tc>
                  <a:txBody>
                    <a:bodyPr/>
                    <a:lstStyle/>
                    <a:p>
                      <a:r>
                        <a:rPr sz="1200" b="0">
                          <a:solidFill>
                            <a:srgbClr val="3A2414"/>
                          </a:solidFill>
                          <a:latin typeface="Segoe UI"/>
                        </a:rPr>
                        <a:t>The QR image in the email is made by an outside service (api.qrserver.com).</a:t>
                      </a:r>
                    </a:p>
                  </a:txBody>
                  <a:tcPr marL="73152" marR="73152" marT="36576" marB="36576" anchor="ctr">
                    <a:solidFill>
                      <a:srgbClr val="FFFFFF"/>
                    </a:solidFill>
                  </a:tcPr>
                </a:tc>
                <a:tc>
                  <a:txBody>
                    <a:bodyPr/>
                    <a:lstStyle/>
                    <a:p>
                      <a:r>
                        <a:rPr sz="1200" b="0">
                          <a:solidFill>
                            <a:srgbClr val="3A2414"/>
                          </a:solidFill>
                          <a:latin typeface="Segoe UI"/>
                        </a:rPr>
                        <a:t>Code.gs</a:t>
                      </a:r>
                    </a:p>
                  </a:txBody>
                  <a:tcPr marL="73152" marR="73152" marT="36576" marB="36576" anchor="ctr">
                    <a:solidFill>
                      <a:srgbClr val="FFFFFF"/>
                    </a:solidFill>
                  </a:tcPr>
                </a:tc>
                <a:tc>
                  <a:txBody>
                    <a:bodyPr/>
                    <a:lstStyle/>
                    <a:p>
                      <a:r>
                        <a:rPr sz="1200" b="0">
                          <a:solidFill>
                            <a:srgbClr val="3A2414"/>
                          </a:solidFill>
                          <a:latin typeface="Segoe UI"/>
                        </a:rPr>
                        <a:t>Low–Medium (GDPR)</a:t>
                      </a:r>
                    </a:p>
                  </a:txBody>
                  <a:tcPr marL="73152" marR="73152" marT="36576" marB="36576" anchor="ctr">
                    <a:solidFill>
                      <a:srgbClr val="FFFFFF"/>
                    </a:solidFill>
                  </a:tcPr>
                </a:tc>
                <a:tc>
                  <a:txBody>
                    <a:bodyPr/>
                    <a:lstStyle/>
                    <a:p>
                      <a:r>
                        <a:rPr sz="1200" b="0">
                          <a:solidFill>
                            <a:srgbClr val="3A2414"/>
                          </a:solidFill>
                          <a:latin typeface="Segoe UI"/>
                        </a:rPr>
                        <a:t>P4</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a:solidFill>
                            <a:srgbClr val="3A2414"/>
                          </a:solidFill>
                          <a:latin typeface="Segoe UI"/>
                        </a:rPr>
                        <a:t>8</a:t>
                      </a:r>
                    </a:p>
                  </a:txBody>
                  <a:tcPr marL="73152" marR="73152" marT="36576" marB="36576" anchor="ctr">
                    <a:solidFill>
                      <a:srgbClr val="F6EFE0"/>
                    </a:solidFill>
                  </a:tcPr>
                </a:tc>
                <a:tc>
                  <a:txBody>
                    <a:bodyPr/>
                    <a:lstStyle/>
                    <a:p>
                      <a:r>
                        <a:rPr sz="1200" b="0">
                          <a:solidFill>
                            <a:srgbClr val="3A2414"/>
                          </a:solidFill>
                          <a:latin typeface="Segoe UI"/>
                        </a:rPr>
                        <a:t>Check-in can't record that someone has arrived.</a:t>
                      </a:r>
                    </a:p>
                  </a:txBody>
                  <a:tcPr marL="73152" marR="73152" marT="36576" marB="36576" anchor="ctr">
                    <a:solidFill>
                      <a:srgbClr val="F6EFE0"/>
                    </a:solidFill>
                  </a:tcPr>
                </a:tc>
                <a:tc>
                  <a:txBody>
                    <a:bodyPr/>
                    <a:lstStyle/>
                    <a:p>
                      <a:r>
                        <a:rPr sz="1200" b="0">
                          <a:solidFill>
                            <a:srgbClr val="3A2414"/>
                          </a:solidFill>
                          <a:latin typeface="Segoe UI"/>
                        </a:rPr>
                        <a:t>checkin.js</a:t>
                      </a:r>
                    </a:p>
                  </a:txBody>
                  <a:tcPr marL="73152" marR="73152" marT="36576" marB="36576" anchor="ctr">
                    <a:solidFill>
                      <a:srgbClr val="F6EFE0"/>
                    </a:solidFill>
                  </a:tcPr>
                </a:tc>
                <a:tc>
                  <a:txBody>
                    <a:bodyPr/>
                    <a:lstStyle/>
                    <a:p>
                      <a:r>
                        <a:rPr sz="1200" b="0">
                          <a:solidFill>
                            <a:srgbClr val="3A2414"/>
                          </a:solidFill>
                          <a:latin typeface="Segoe UI"/>
                        </a:rPr>
                        <a:t>Missing feature</a:t>
                      </a:r>
                    </a:p>
                  </a:txBody>
                  <a:tcPr marL="73152" marR="73152" marT="36576" marB="36576" anchor="ctr">
                    <a:solidFill>
                      <a:srgbClr val="F6EFE0"/>
                    </a:solidFill>
                  </a:tcPr>
                </a:tc>
                <a:tc>
                  <a:txBody>
                    <a:bodyPr/>
                    <a:lstStyle/>
                    <a:p>
                      <a:r>
                        <a:rPr sz="1200" b="0">
                          <a:solidFill>
                            <a:srgbClr val="3A2414"/>
                          </a:solidFill>
                          <a:latin typeface="Segoe UI"/>
                        </a:rPr>
                        <a:t>P5</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a:solidFill>
                            <a:srgbClr val="3A2414"/>
                          </a:solidFill>
                          <a:latin typeface="Segoe UI"/>
                        </a:rPr>
                        <a:t>9</a:t>
                      </a:r>
                    </a:p>
                  </a:txBody>
                  <a:tcPr marL="73152" marR="73152" marT="36576" marB="36576" anchor="ctr">
                    <a:solidFill>
                      <a:srgbClr val="FFFFFF"/>
                    </a:solidFill>
                  </a:tcPr>
                </a:tc>
                <a:tc>
                  <a:txBody>
                    <a:bodyPr/>
                    <a:lstStyle/>
                    <a:p>
                      <a:r>
                        <a:rPr sz="1200" b="0">
                          <a:solidFill>
                            <a:srgbClr val="3A2414"/>
                          </a:solidFill>
                          <a:latin typeface="Segoe UI"/>
                        </a:rPr>
                        <a:t>The PayPal link uses a personal account.</a:t>
                      </a:r>
                    </a:p>
                  </a:txBody>
                  <a:tcPr marL="73152" marR="73152" marT="36576" marB="36576" anchor="ctr">
                    <a:solidFill>
                      <a:srgbClr val="FFFFFF"/>
                    </a:solidFill>
                  </a:tcPr>
                </a:tc>
                <a:tc>
                  <a:txBody>
                    <a:bodyPr/>
                    <a:lstStyle/>
                    <a:p>
                      <a:r>
                        <a:rPr sz="1200" b="0">
                          <a:solidFill>
                            <a:srgbClr val="3A2414"/>
                          </a:solidFill>
                          <a:latin typeface="Segoe UI"/>
                        </a:rPr>
                        <a:t>app.js PAYPAL_ME_USERNAME</a:t>
                      </a:r>
                    </a:p>
                  </a:txBody>
                  <a:tcPr marL="73152" marR="73152" marT="36576" marB="36576" anchor="ctr">
                    <a:solidFill>
                      <a:srgbClr val="FFFFFF"/>
                    </a:solidFill>
                  </a:tcPr>
                </a:tc>
                <a:tc>
                  <a:txBody>
                    <a:bodyPr/>
                    <a:lstStyle/>
                    <a:p>
                      <a:r>
                        <a:rPr sz="1200" b="0">
                          <a:solidFill>
                            <a:srgbClr val="3A2414"/>
                          </a:solidFill>
                          <a:latin typeface="Segoe UI"/>
                        </a:rPr>
                        <a:t>Accounting</a:t>
                      </a:r>
                    </a:p>
                  </a:txBody>
                  <a:tcPr marL="73152" marR="73152" marT="36576" marB="36576" anchor="ctr">
                    <a:solidFill>
                      <a:srgbClr val="FFFFFF"/>
                    </a:solidFill>
                  </a:tcPr>
                </a:tc>
                <a:tc>
                  <a:txBody>
                    <a:bodyPr/>
                    <a:lstStyle/>
                    <a:p>
                      <a:r>
                        <a:rPr sz="1200" b="0">
                          <a:solidFill>
                            <a:srgbClr val="3A2414"/>
                          </a:solidFill>
                          <a:latin typeface="Segoe UI"/>
                        </a:rPr>
                        <a:t>Decision</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a:solidFill>
                            <a:srgbClr val="3A2414"/>
                          </a:solidFill>
                          <a:latin typeface="Segoe UI"/>
                        </a:rPr>
                        <a:t>10</a:t>
                      </a:r>
                    </a:p>
                  </a:txBody>
                  <a:tcPr marL="73152" marR="73152" marT="36576" marB="36576" anchor="ctr">
                    <a:solidFill>
                      <a:srgbClr val="F6EFE0"/>
                    </a:solidFill>
                  </a:tcPr>
                </a:tc>
                <a:tc>
                  <a:txBody>
                    <a:bodyPr/>
                    <a:lstStyle/>
                    <a:p>
                      <a:r>
                        <a:rPr sz="1200" b="0">
                          <a:solidFill>
                            <a:srgbClr val="3A2414"/>
                          </a:solidFill>
                          <a:latin typeface="Segoe UI"/>
                        </a:rPr>
                        <a:t>The seva list and prices are written into the code.</a:t>
                      </a:r>
                    </a:p>
                  </a:txBody>
                  <a:tcPr marL="73152" marR="73152" marT="36576" marB="36576" anchor="ctr">
                    <a:solidFill>
                      <a:srgbClr val="F6EFE0"/>
                    </a:solidFill>
                  </a:tcPr>
                </a:tc>
                <a:tc>
                  <a:txBody>
                    <a:bodyPr/>
                    <a:lstStyle/>
                    <a:p>
                      <a:r>
                        <a:rPr sz="1200" b="0">
                          <a:solidFill>
                            <a:srgbClr val="3A2414"/>
                          </a:solidFill>
                          <a:latin typeface="Segoe UI"/>
                        </a:rPr>
                        <a:t>app.js SEVAS</a:t>
                      </a:r>
                    </a:p>
                  </a:txBody>
                  <a:tcPr marL="73152" marR="73152" marT="36576" marB="36576" anchor="ctr">
                    <a:solidFill>
                      <a:srgbClr val="F6EFE0"/>
                    </a:solidFill>
                  </a:tcPr>
                </a:tc>
                <a:tc>
                  <a:txBody>
                    <a:bodyPr/>
                    <a:lstStyle/>
                    <a:p>
                      <a:r>
                        <a:rPr sz="1200" b="0">
                          <a:solidFill>
                            <a:srgbClr val="3A2414"/>
                          </a:solidFill>
                          <a:latin typeface="Segoe UI"/>
                        </a:rPr>
                        <a:t>Changes need a developer</a:t>
                      </a:r>
                    </a:p>
                  </a:txBody>
                  <a:tcPr marL="73152" marR="73152" marT="36576" marB="36576" anchor="ctr">
                    <a:solidFill>
                      <a:srgbClr val="F6EFE0"/>
                    </a:solidFill>
                  </a:tcPr>
                </a:tc>
                <a:tc>
                  <a:txBody>
                    <a:bodyPr/>
                    <a:lstStyle/>
                    <a:p>
                      <a:r>
                        <a:rPr sz="1200" b="0">
                          <a:solidFill>
                            <a:srgbClr val="3A2414"/>
                          </a:solidFill>
                          <a:latin typeface="Segoe UI"/>
                        </a:rPr>
                        <a:t>P1</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11</a:t>
                      </a:r>
                    </a:p>
                  </a:txBody>
                  <a:tcPr marL="73152" marR="73152" marT="36576" marB="36576" anchor="ctr">
                    <a:solidFill>
                      <a:srgbClr val="FFFFFF"/>
                    </a:solidFill>
                  </a:tcPr>
                </a:tc>
                <a:tc>
                  <a:txBody>
                    <a:bodyPr/>
                    <a:lstStyle/>
                    <a:p>
                      <a:r>
                        <a:rPr sz="1200" b="0">
                          <a:solidFill>
                            <a:srgbClr val="3A2414"/>
                          </a:solidFill>
                          <a:latin typeface="Segoe UI"/>
                        </a:rPr>
                        <a:t>The setup guide says about 500 emails a day. A free Google account can probably only send to about 100 recipients a day through Apps Script – please check the current limit.</a:t>
                      </a:r>
                    </a:p>
                  </a:txBody>
                  <a:tcPr marL="73152" marR="73152" marT="36576" marB="36576" anchor="ctr">
                    <a:solidFill>
                      <a:srgbClr val="FFFFFF"/>
                    </a:solidFill>
                  </a:tcPr>
                </a:tc>
                <a:tc>
                  <a:txBody>
                    <a:bodyPr/>
                    <a:lstStyle/>
                    <a:p>
                      <a:r>
                        <a:rPr sz="1200" b="0">
                          <a:solidFill>
                            <a:srgbClr val="3A2414"/>
                          </a:solidFill>
                          <a:latin typeface="Segoe UI"/>
                        </a:rPr>
                        <a:t>SETUP_INSTRUCTIONS.md</a:t>
                      </a:r>
                    </a:p>
                  </a:txBody>
                  <a:tcPr marL="73152" marR="73152" marT="36576" marB="36576" anchor="ctr">
                    <a:solidFill>
                      <a:srgbClr val="FFFFFF"/>
                    </a:solidFill>
                  </a:tcPr>
                </a:tc>
                <a:tc>
                  <a:txBody>
                    <a:bodyPr/>
                    <a:lstStyle/>
                    <a:p>
                      <a:r>
                        <a:rPr sz="1200" b="0">
                          <a:solidFill>
                            <a:srgbClr val="3A2414"/>
                          </a:solidFill>
                          <a:latin typeface="Segoe UI"/>
                        </a:rPr>
                        <a:t>Invitations at scale</a:t>
                      </a:r>
                    </a:p>
                  </a:txBody>
                  <a:tcPr marL="73152" marR="73152" marT="36576" marB="36576" anchor="ctr">
                    <a:solidFill>
                      <a:srgbClr val="FFFFFF"/>
                    </a:solidFill>
                  </a:tcPr>
                </a:tc>
                <a:tc>
                  <a:txBody>
                    <a:bodyPr/>
                    <a:lstStyle/>
                    <a:p>
                      <a:r>
                        <a:rPr sz="1200" b="0">
                          <a:solidFill>
                            <a:srgbClr val="3A2414"/>
                          </a:solidFill>
                          <a:latin typeface="Segoe UI"/>
                        </a:rPr>
                        <a:t>Decision</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TextBox 1"/>
          <p:cNvSpPr txBox="1"/>
          <p:nvPr/>
        </p:nvSpPr>
        <p:spPr>
          <a:xfrm>
            <a:off x="731520" y="2011680"/>
            <a:ext cx="2286000" cy="1828800"/>
          </a:xfrm>
          <a:prstGeom prst="rect">
            <a:avLst/>
          </a:prstGeom>
          <a:noFill/>
        </p:spPr>
        <p:txBody>
          <a:bodyPr wrap="square" anchor="t">
            <a:spAutoFit/>
          </a:bodyPr>
          <a:lstStyle/>
          <a:p>
            <a:pPr algn="l"/>
            <a:r>
              <a:rPr sz="9600" b="1">
                <a:solidFill>
                  <a:srgbClr val="B3781A"/>
                </a:solidFill>
                <a:latin typeface="Georgia"/>
              </a:rPr>
              <a:t>02</a:t>
            </a:r>
          </a:p>
        </p:txBody>
      </p:sp>
      <p:sp>
        <p:nvSpPr>
          <p:cNvPr id="3" name="TextBox 2"/>
          <p:cNvSpPr txBox="1"/>
          <p:nvPr/>
        </p:nvSpPr>
        <p:spPr>
          <a:xfrm>
            <a:off x="2926080" y="2377440"/>
            <a:ext cx="8686800" cy="1097280"/>
          </a:xfrm>
          <a:prstGeom prst="rect">
            <a:avLst/>
          </a:prstGeom>
          <a:noFill/>
        </p:spPr>
        <p:txBody>
          <a:bodyPr wrap="square" anchor="t">
            <a:spAutoFit/>
          </a:bodyPr>
          <a:lstStyle/>
          <a:p>
            <a:pPr algn="l"/>
            <a:r>
              <a:rPr sz="4000" b="1">
                <a:solidFill>
                  <a:srgbClr val="FFFFFF"/>
                </a:solidFill>
                <a:latin typeface="Georgia"/>
              </a:rPr>
              <a:t>Target system</a:t>
            </a:r>
          </a:p>
        </p:txBody>
      </p:sp>
      <p:sp>
        <p:nvSpPr>
          <p:cNvPr id="4" name="TextBox 3"/>
          <p:cNvSpPr txBox="1"/>
          <p:nvPr/>
        </p:nvSpPr>
        <p:spPr>
          <a:xfrm>
            <a:off x="2926080" y="3474720"/>
            <a:ext cx="8686800" cy="914400"/>
          </a:xfrm>
          <a:prstGeom prst="rect">
            <a:avLst/>
          </a:prstGeom>
          <a:noFill/>
        </p:spPr>
        <p:txBody>
          <a:bodyPr wrap="square" anchor="t">
            <a:spAutoFit/>
          </a:bodyPr>
          <a:lstStyle/>
          <a:p>
            <a:pPr algn="l"/>
            <a:r>
              <a:rPr sz="1800" b="0">
                <a:solidFill>
                  <a:srgbClr val="DDC79A"/>
                </a:solidFill>
                <a:latin typeface="Segoe UI"/>
              </a:rPr>
              <a:t>Free tools, architecture and roles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Target architecture - free tools only</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9</a:t>
            </a:r>
          </a:p>
        </p:txBody>
      </p:sp>
      <p:pic>
        <p:nvPicPr>
          <p:cNvPr id="9" name="Picture 6" descr="image.png"/>
          <p:cNvPicPr>
            <a:picLocks noChangeAspect="1"/>
          </p:cNvPicPr>
          <p:nvPr/>
        </p:nvPicPr>
        <p:blipFill>
          <a:blip r:embed="rId3"/>
          <a:stretch>
            <a:fillRect/>
          </a:stretch>
        </p:blipFill>
        <p:spPr>
          <a:xfrm>
            <a:off x="2027276" y="1188720"/>
            <a:ext cx="8137142" cy="51663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Free tool stack and its limits  (1/2)</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10</a:t>
            </a:r>
          </a:p>
        </p:txBody>
      </p:sp>
      <p:graphicFrame>
        <p:nvGraphicFramePr>
          <p:cNvPr id="7" name="Table 6"/>
          <p:cNvGraphicFramePr>
            <a:graphicFrameLocks noGrp="1"/>
          </p:cNvGraphicFramePr>
          <p:nvPr/>
        </p:nvGraphicFramePr>
        <p:xfrm>
          <a:off x="411480" y="1188720"/>
          <a:ext cx="11368734" cy="3035808"/>
        </p:xfrm>
        <a:graphic>
          <a:graphicData uri="http://schemas.openxmlformats.org/drawingml/2006/table">
            <a:tbl>
              <a:tblPr firstRow="1" bandRow="1">
                <a:tableStyleId>{5C22544A-7EE6-4342-B048-85BDC9FD1C3A}</a:tableStyleId>
              </a:tblPr>
              <a:tblGrid>
                <a:gridCol w="1624105">
                  <a:extLst>
                    <a:ext uri="{9D8B030D-6E8A-4147-A177-3AD203B41FA5}">
                      <a16:colId xmlns:a16="http://schemas.microsoft.com/office/drawing/2014/main" val="20000"/>
                    </a:ext>
                  </a:extLst>
                </a:gridCol>
                <a:gridCol w="3451223">
                  <a:extLst>
                    <a:ext uri="{9D8B030D-6E8A-4147-A177-3AD203B41FA5}">
                      <a16:colId xmlns:a16="http://schemas.microsoft.com/office/drawing/2014/main" val="20001"/>
                    </a:ext>
                  </a:extLst>
                </a:gridCol>
                <a:gridCol w="3451223">
                  <a:extLst>
                    <a:ext uri="{9D8B030D-6E8A-4147-A177-3AD203B41FA5}">
                      <a16:colId xmlns:a16="http://schemas.microsoft.com/office/drawing/2014/main" val="20002"/>
                    </a:ext>
                  </a:extLst>
                </a:gridCol>
                <a:gridCol w="2842183">
                  <a:extLst>
                    <a:ext uri="{9D8B030D-6E8A-4147-A177-3AD203B41FA5}">
                      <a16:colId xmlns:a16="http://schemas.microsoft.com/office/drawing/2014/main" val="20003"/>
                    </a:ext>
                  </a:extLst>
                </a:gridCol>
              </a:tblGrid>
              <a:tr h="329184">
                <a:tc>
                  <a:txBody>
                    <a:bodyPr/>
                    <a:lstStyle/>
                    <a:p>
                      <a:r>
                        <a:rPr sz="1200" b="1">
                          <a:solidFill>
                            <a:srgbClr val="FFFFFF"/>
                          </a:solidFill>
                          <a:latin typeface="Segoe UI"/>
                        </a:rPr>
                        <a:t>Need</a:t>
                      </a:r>
                    </a:p>
                  </a:txBody>
                  <a:tcPr marL="73152" marR="73152" marT="36576" marB="36576" anchor="ctr">
                    <a:solidFill>
                      <a:srgbClr val="6D1F2C"/>
                    </a:solidFill>
                  </a:tcPr>
                </a:tc>
                <a:tc>
                  <a:txBody>
                    <a:bodyPr/>
                    <a:lstStyle/>
                    <a:p>
                      <a:r>
                        <a:rPr sz="1200" b="1">
                          <a:solidFill>
                            <a:srgbClr val="FFFFFF"/>
                          </a:solidFill>
                          <a:latin typeface="Segoe UI"/>
                        </a:rPr>
                        <a:t>Free tool</a:t>
                      </a:r>
                    </a:p>
                  </a:txBody>
                  <a:tcPr marL="73152" marR="73152" marT="36576" marB="36576" anchor="ctr">
                    <a:solidFill>
                      <a:srgbClr val="6D1F2C"/>
                    </a:solidFill>
                  </a:tcPr>
                </a:tc>
                <a:tc>
                  <a:txBody>
                    <a:bodyPr/>
                    <a:lstStyle/>
                    <a:p>
                      <a:r>
                        <a:rPr sz="1200" b="1">
                          <a:solidFill>
                            <a:srgbClr val="FFFFFF"/>
                          </a:solidFill>
                          <a:latin typeface="Segoe UI"/>
                        </a:rPr>
                        <a:t>Limit to watch</a:t>
                      </a:r>
                    </a:p>
                  </a:txBody>
                  <a:tcPr marL="73152" marR="73152" marT="36576" marB="36576" anchor="ctr">
                    <a:solidFill>
                      <a:srgbClr val="6D1F2C"/>
                    </a:solidFill>
                  </a:tcPr>
                </a:tc>
                <a:tc>
                  <a:txBody>
                    <a:bodyPr/>
                    <a:lstStyle/>
                    <a:p>
                      <a:r>
                        <a:rPr sz="1200" b="1">
                          <a:solidFill>
                            <a:srgbClr val="FFFFFF"/>
                          </a:solidFill>
                          <a:latin typeface="Segoe UI"/>
                        </a:rPr>
                        <a:t>If you outgrow it</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a:solidFill>
                            <a:srgbClr val="3A2414"/>
                          </a:solidFill>
                          <a:latin typeface="Segoe UI"/>
                        </a:rPr>
                        <a:t>Hosting</a:t>
                      </a:r>
                    </a:p>
                  </a:txBody>
                  <a:tcPr marL="73152" marR="73152" marT="36576" marB="36576" anchor="ctr">
                    <a:solidFill>
                      <a:srgbClr val="FFFFFF"/>
                    </a:solidFill>
                  </a:tcPr>
                </a:tc>
                <a:tc>
                  <a:txBody>
                    <a:bodyPr/>
                    <a:lstStyle/>
                    <a:p>
                      <a:r>
                        <a:rPr sz="1200" b="0" dirty="0">
                          <a:solidFill>
                            <a:srgbClr val="3A2414"/>
                          </a:solidFill>
                          <a:latin typeface="Segoe UI"/>
                        </a:rPr>
                        <a:t>GitHub Pages (current) or Firebase Hosting</a:t>
                      </a:r>
                    </a:p>
                  </a:txBody>
                  <a:tcPr marL="73152" marR="73152" marT="36576" marB="36576" anchor="ctr">
                    <a:solidFill>
                      <a:srgbClr val="FFFFFF"/>
                    </a:solidFill>
                  </a:tcPr>
                </a:tc>
                <a:tc>
                  <a:txBody>
                    <a:bodyPr/>
                    <a:lstStyle/>
                    <a:p>
                      <a:r>
                        <a:rPr sz="1200" b="0" dirty="0">
                          <a:solidFill>
                            <a:srgbClr val="3A2414"/>
                          </a:solidFill>
                          <a:latin typeface="Segoe UI"/>
                        </a:rPr>
                        <a:t>Free tier</a:t>
                      </a:r>
                    </a:p>
                  </a:txBody>
                  <a:tcPr marL="73152" marR="73152" marT="36576" marB="36576" anchor="ctr">
                    <a:solidFill>
                      <a:srgbClr val="FFFFFF"/>
                    </a:solidFill>
                  </a:tcPr>
                </a:tc>
                <a:tc>
                  <a:txBody>
                    <a:bodyPr/>
                    <a:lstStyle/>
                    <a:p>
                      <a:r>
                        <a:rPr sz="1200" b="0">
                          <a:solidFill>
                            <a:srgbClr val="3A2414"/>
                          </a:solidFill>
                          <a:latin typeface="Segoe UI"/>
                        </a:rPr>
                        <a:t>Custom domain</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a:solidFill>
                            <a:srgbClr val="3A2414"/>
                          </a:solidFill>
                          <a:latin typeface="Segoe UI"/>
                        </a:rPr>
                        <a:t>Database</a:t>
                      </a:r>
                    </a:p>
                  </a:txBody>
                  <a:tcPr marL="73152" marR="73152" marT="36576" marB="36576" anchor="ctr">
                    <a:solidFill>
                      <a:srgbClr val="F6EFE0"/>
                    </a:solidFill>
                  </a:tcPr>
                </a:tc>
                <a:tc>
                  <a:txBody>
                    <a:bodyPr/>
                    <a:lstStyle/>
                    <a:p>
                      <a:r>
                        <a:rPr sz="1200" b="0" dirty="0" err="1">
                          <a:solidFill>
                            <a:srgbClr val="3A2414"/>
                          </a:solidFill>
                          <a:latin typeface="Segoe UI"/>
                        </a:rPr>
                        <a:t>Firestore</a:t>
                      </a:r>
                      <a:r>
                        <a:rPr sz="1200" b="0" dirty="0">
                          <a:solidFill>
                            <a:srgbClr val="3A2414"/>
                          </a:solidFill>
                          <a:latin typeface="Segoe UI"/>
                        </a:rPr>
                        <a:t> free plan (Spark), EU region</a:t>
                      </a:r>
                    </a:p>
                  </a:txBody>
                  <a:tcPr marL="73152" marR="73152" marT="36576" marB="36576" anchor="ctr">
                    <a:solidFill>
                      <a:srgbClr val="F6EFE0"/>
                    </a:solidFill>
                  </a:tcPr>
                </a:tc>
                <a:tc>
                  <a:txBody>
                    <a:bodyPr/>
                    <a:lstStyle/>
                    <a:p>
                      <a:r>
                        <a:rPr sz="1200" b="0">
                          <a:solidFill>
                            <a:srgbClr val="3A2414"/>
                          </a:solidFill>
                          <a:latin typeface="Segoe UI"/>
                        </a:rPr>
                        <a:t>About 50k reads and 20k writes a day, 1 GiB storage</a:t>
                      </a:r>
                    </a:p>
                  </a:txBody>
                  <a:tcPr marL="73152" marR="73152" marT="36576" marB="36576" anchor="ctr">
                    <a:solidFill>
                      <a:srgbClr val="F6EFE0"/>
                    </a:solidFill>
                  </a:tcPr>
                </a:tc>
                <a:tc>
                  <a:txBody>
                    <a:bodyPr/>
                    <a:lstStyle/>
                    <a:p>
                      <a:r>
                        <a:rPr sz="1200" b="0">
                          <a:solidFill>
                            <a:srgbClr val="3A2414"/>
                          </a:solidFill>
                          <a:latin typeface="Segoe UI"/>
                        </a:rPr>
                        <a:t>Pay-as-you-go plan (Blaze), which needs a credit card</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a:solidFill>
                            <a:srgbClr val="3A2414"/>
                          </a:solidFill>
                          <a:latin typeface="Segoe UI"/>
                        </a:rPr>
                        <a:t>Staff login and roles</a:t>
                      </a:r>
                    </a:p>
                  </a:txBody>
                  <a:tcPr marL="73152" marR="73152" marT="36576" marB="36576" anchor="ctr">
                    <a:solidFill>
                      <a:srgbClr val="FFFFFF"/>
                    </a:solidFill>
                  </a:tcPr>
                </a:tc>
                <a:tc>
                  <a:txBody>
                    <a:bodyPr/>
                    <a:lstStyle/>
                    <a:p>
                      <a:r>
                        <a:rPr sz="1200" b="0" dirty="0">
                          <a:solidFill>
                            <a:srgbClr val="3A2414"/>
                          </a:solidFill>
                          <a:latin typeface="Segoe UI"/>
                        </a:rPr>
                        <a:t>Firebase Auth plus a staff list that the security rules check</a:t>
                      </a:r>
                    </a:p>
                  </a:txBody>
                  <a:tcPr marL="73152" marR="73152" marT="36576" marB="36576" anchor="ctr">
                    <a:solidFill>
                      <a:srgbClr val="FFFFFF"/>
                    </a:solidFill>
                  </a:tcPr>
                </a:tc>
                <a:tc>
                  <a:txBody>
                    <a:bodyPr/>
                    <a:lstStyle/>
                    <a:p>
                      <a:r>
                        <a:rPr sz="1200" b="0">
                          <a:solidFill>
                            <a:srgbClr val="3A2414"/>
                          </a:solidFill>
                          <a:latin typeface="Segoe UI"/>
                        </a:rPr>
                        <a:t>None</a:t>
                      </a:r>
                    </a:p>
                  </a:txBody>
                  <a:tcPr marL="73152" marR="73152" marT="36576" marB="36576" anchor="ctr">
                    <a:solidFill>
                      <a:srgbClr val="FFFFFF"/>
                    </a:solidFill>
                  </a:tcPr>
                </a:tc>
                <a:tc>
                  <a:txBody>
                    <a:bodyPr/>
                    <a:lstStyle/>
                    <a:p>
                      <a:r>
                        <a:rPr sz="12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a:solidFill>
                            <a:srgbClr val="3A2414"/>
                          </a:solidFill>
                          <a:latin typeface="Segoe UI"/>
                        </a:rPr>
                        <a:t>Server-side logic</a:t>
                      </a:r>
                    </a:p>
                  </a:txBody>
                  <a:tcPr marL="73152" marR="73152" marT="36576" marB="36576" anchor="ctr">
                    <a:solidFill>
                      <a:srgbClr val="F6EFE0"/>
                    </a:solidFill>
                  </a:tcPr>
                </a:tc>
                <a:tc>
                  <a:txBody>
                    <a:bodyPr/>
                    <a:lstStyle/>
                    <a:p>
                      <a:r>
                        <a:rPr sz="1200" b="0">
                          <a:solidFill>
                            <a:srgbClr val="3A2414"/>
                          </a:solidFill>
                          <a:latin typeface="Segoe UI"/>
                        </a:rPr>
                        <a:t>Apps Script web app (Code.gs)</a:t>
                      </a:r>
                    </a:p>
                  </a:txBody>
                  <a:tcPr marL="73152" marR="73152" marT="36576" marB="36576" anchor="ctr">
                    <a:solidFill>
                      <a:srgbClr val="F6EFE0"/>
                    </a:solidFill>
                  </a:tcPr>
                </a:tc>
                <a:tc>
                  <a:txBody>
                    <a:bodyPr/>
                    <a:lstStyle/>
                    <a:p>
                      <a:r>
                        <a:rPr sz="1200" b="0">
                          <a:solidFill>
                            <a:srgbClr val="3A2414"/>
                          </a:solidFill>
                          <a:latin typeface="Segoe UI"/>
                        </a:rPr>
                        <a:t>6 minutes per run; about 90 minutes a day for scheduled jobs</a:t>
                      </a:r>
                    </a:p>
                  </a:txBody>
                  <a:tcPr marL="73152" marR="73152" marT="36576" marB="36576" anchor="ctr">
                    <a:solidFill>
                      <a:srgbClr val="F6EFE0"/>
                    </a:solidFill>
                  </a:tcPr>
                </a:tc>
                <a:tc>
                  <a:txBody>
                    <a:bodyPr/>
                    <a:lstStyle/>
                    <a:p>
                      <a:r>
                        <a:rPr sz="1200" b="0">
                          <a:solidFill>
                            <a:srgbClr val="3A2414"/>
                          </a:solidFill>
                          <a:latin typeface="Segoe UI"/>
                        </a:rPr>
                        <a:t>Cloud Functions, which needs the paid plan</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Email</a:t>
                      </a:r>
                    </a:p>
                  </a:txBody>
                  <a:tcPr marL="73152" marR="73152" marT="36576" marB="36576" anchor="ctr">
                    <a:solidFill>
                      <a:srgbClr val="FFFFFF"/>
                    </a:solidFill>
                  </a:tcPr>
                </a:tc>
                <a:tc>
                  <a:txBody>
                    <a:bodyPr/>
                    <a:lstStyle/>
                    <a:p>
                      <a:r>
                        <a:rPr sz="1200" b="0">
                          <a:solidFill>
                            <a:srgbClr val="3A2414"/>
                          </a:solidFill>
                          <a:latin typeface="Segoe UI"/>
                        </a:rPr>
                        <a:t>Gmail through Apps Script</a:t>
                      </a:r>
                    </a:p>
                  </a:txBody>
                  <a:tcPr marL="73152" marR="73152" marT="36576" marB="36576" anchor="ctr">
                    <a:solidFill>
                      <a:srgbClr val="FFFFFF"/>
                    </a:solidFill>
                  </a:tcPr>
                </a:tc>
                <a:tc>
                  <a:txBody>
                    <a:bodyPr/>
                    <a:lstStyle/>
                    <a:p>
                      <a:r>
                        <a:rPr sz="1200" b="0">
                          <a:solidFill>
                            <a:srgbClr val="3A2414"/>
                          </a:solidFill>
                          <a:latin typeface="Segoe UI"/>
                        </a:rPr>
                        <a:t>About 100 recipients a day on a normal Google account</a:t>
                      </a:r>
                    </a:p>
                  </a:txBody>
                  <a:tcPr marL="73152" marR="73152" marT="36576" marB="36576" anchor="ctr">
                    <a:solidFill>
                      <a:srgbClr val="FFFFFF"/>
                    </a:solidFill>
                  </a:tcPr>
                </a:tc>
                <a:tc>
                  <a:txBody>
                    <a:bodyPr/>
                    <a:lstStyle/>
                    <a:p>
                      <a:r>
                        <a:rPr sz="1200" b="0">
                          <a:solidFill>
                            <a:srgbClr val="3A2414"/>
                          </a:solidFill>
                          <a:latin typeface="Segoe UI"/>
                        </a:rPr>
                        <a:t>Google Workspace for Nonprofits is free for registered non-profits (about 1,500 a day)</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200" b="1">
                          <a:solidFill>
                            <a:srgbClr val="3A2414"/>
                          </a:solidFill>
                          <a:latin typeface="Segoe UI"/>
                        </a:rPr>
                        <a:t>Online payment</a:t>
                      </a:r>
                    </a:p>
                  </a:txBody>
                  <a:tcPr marL="73152" marR="73152" marT="36576" marB="36576" anchor="ctr">
                    <a:solidFill>
                      <a:srgbClr val="F6EFE0"/>
                    </a:solidFill>
                  </a:tcPr>
                </a:tc>
                <a:tc>
                  <a:txBody>
                    <a:bodyPr/>
                    <a:lstStyle/>
                    <a:p>
                      <a:r>
                        <a:rPr sz="1200" b="0">
                          <a:solidFill>
                            <a:srgbClr val="3A2414"/>
                          </a:solidFill>
                          <a:latin typeface="Segoe UI"/>
                        </a:rPr>
                        <a:t>PayPal checkout buttons (PayPal "Smart Buttons")</a:t>
                      </a:r>
                    </a:p>
                  </a:txBody>
                  <a:tcPr marL="73152" marR="73152" marT="36576" marB="36576" anchor="ctr">
                    <a:solidFill>
                      <a:srgbClr val="F6EFE0"/>
                    </a:solidFill>
                  </a:tcPr>
                </a:tc>
                <a:tc>
                  <a:txBody>
                    <a:bodyPr/>
                    <a:lstStyle/>
                    <a:p>
                      <a:r>
                        <a:rPr sz="1200" b="0">
                          <a:solidFill>
                            <a:srgbClr val="3A2414"/>
                          </a:solidFill>
                          <a:latin typeface="Segoe UI"/>
                        </a:rPr>
                        <a:t>Fee on each payment; a lower charity rate is available</a:t>
                      </a:r>
                    </a:p>
                  </a:txBody>
                  <a:tcPr marL="73152" marR="73152" marT="36576" marB="36576" anchor="ctr">
                    <a:solidFill>
                      <a:srgbClr val="F6EFE0"/>
                    </a:solidFill>
                  </a:tcPr>
                </a:tc>
                <a:tc>
                  <a:txBody>
                    <a:bodyPr/>
                    <a:lstStyle/>
                    <a:p>
                      <a:r>
                        <a:rPr sz="1200" b="0" dirty="0">
                          <a:solidFill>
                            <a:srgbClr val="3A2414"/>
                          </a:solidFill>
                          <a:latin typeface="Segoe UI"/>
                        </a:rPr>
                        <a:t>—</a:t>
                      </a: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Free tool stack and its limits  (2/2)</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11</a:t>
            </a:r>
          </a:p>
        </p:txBody>
      </p:sp>
      <p:graphicFrame>
        <p:nvGraphicFramePr>
          <p:cNvPr id="7" name="Table 6"/>
          <p:cNvGraphicFramePr>
            <a:graphicFrameLocks noGrp="1"/>
          </p:cNvGraphicFramePr>
          <p:nvPr/>
        </p:nvGraphicFramePr>
        <p:xfrm>
          <a:off x="411480" y="1188720"/>
          <a:ext cx="11368734" cy="2633472"/>
        </p:xfrm>
        <a:graphic>
          <a:graphicData uri="http://schemas.openxmlformats.org/drawingml/2006/table">
            <a:tbl>
              <a:tblPr firstRow="1" bandRow="1">
                <a:tableStyleId>{5C22544A-7EE6-4342-B048-85BDC9FD1C3A}</a:tableStyleId>
              </a:tblPr>
              <a:tblGrid>
                <a:gridCol w="1624105">
                  <a:extLst>
                    <a:ext uri="{9D8B030D-6E8A-4147-A177-3AD203B41FA5}">
                      <a16:colId xmlns:a16="http://schemas.microsoft.com/office/drawing/2014/main" val="20000"/>
                    </a:ext>
                  </a:extLst>
                </a:gridCol>
                <a:gridCol w="3451223">
                  <a:extLst>
                    <a:ext uri="{9D8B030D-6E8A-4147-A177-3AD203B41FA5}">
                      <a16:colId xmlns:a16="http://schemas.microsoft.com/office/drawing/2014/main" val="20001"/>
                    </a:ext>
                  </a:extLst>
                </a:gridCol>
                <a:gridCol w="3451223">
                  <a:extLst>
                    <a:ext uri="{9D8B030D-6E8A-4147-A177-3AD203B41FA5}">
                      <a16:colId xmlns:a16="http://schemas.microsoft.com/office/drawing/2014/main" val="20002"/>
                    </a:ext>
                  </a:extLst>
                </a:gridCol>
                <a:gridCol w="2842183">
                  <a:extLst>
                    <a:ext uri="{9D8B030D-6E8A-4147-A177-3AD203B41FA5}">
                      <a16:colId xmlns:a16="http://schemas.microsoft.com/office/drawing/2014/main" val="20003"/>
                    </a:ext>
                  </a:extLst>
                </a:gridCol>
              </a:tblGrid>
              <a:tr h="329184">
                <a:tc>
                  <a:txBody>
                    <a:bodyPr/>
                    <a:lstStyle/>
                    <a:p>
                      <a:r>
                        <a:rPr sz="1200" b="1">
                          <a:solidFill>
                            <a:srgbClr val="FFFFFF"/>
                          </a:solidFill>
                          <a:latin typeface="Segoe UI"/>
                        </a:rPr>
                        <a:t>Need</a:t>
                      </a:r>
                    </a:p>
                  </a:txBody>
                  <a:tcPr marL="73152" marR="73152" marT="36576" marB="36576" anchor="ctr">
                    <a:solidFill>
                      <a:srgbClr val="6D1F2C"/>
                    </a:solidFill>
                  </a:tcPr>
                </a:tc>
                <a:tc>
                  <a:txBody>
                    <a:bodyPr/>
                    <a:lstStyle/>
                    <a:p>
                      <a:r>
                        <a:rPr sz="1200" b="1">
                          <a:solidFill>
                            <a:srgbClr val="FFFFFF"/>
                          </a:solidFill>
                          <a:latin typeface="Segoe UI"/>
                        </a:rPr>
                        <a:t>Free tool</a:t>
                      </a:r>
                    </a:p>
                  </a:txBody>
                  <a:tcPr marL="73152" marR="73152" marT="36576" marB="36576" anchor="ctr">
                    <a:solidFill>
                      <a:srgbClr val="6D1F2C"/>
                    </a:solidFill>
                  </a:tcPr>
                </a:tc>
                <a:tc>
                  <a:txBody>
                    <a:bodyPr/>
                    <a:lstStyle/>
                    <a:p>
                      <a:r>
                        <a:rPr sz="1200" b="1">
                          <a:solidFill>
                            <a:srgbClr val="FFFFFF"/>
                          </a:solidFill>
                          <a:latin typeface="Segoe UI"/>
                        </a:rPr>
                        <a:t>Limit to watch</a:t>
                      </a:r>
                    </a:p>
                  </a:txBody>
                  <a:tcPr marL="73152" marR="73152" marT="36576" marB="36576" anchor="ctr">
                    <a:solidFill>
                      <a:srgbClr val="6D1F2C"/>
                    </a:solidFill>
                  </a:tcPr>
                </a:tc>
                <a:tc>
                  <a:txBody>
                    <a:bodyPr/>
                    <a:lstStyle/>
                    <a:p>
                      <a:r>
                        <a:rPr sz="1200" b="1">
                          <a:solidFill>
                            <a:srgbClr val="FFFFFF"/>
                          </a:solidFill>
                          <a:latin typeface="Segoe UI"/>
                        </a:rPr>
                        <a:t>If you outgrow it</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a:solidFill>
                            <a:srgbClr val="3A2414"/>
                          </a:solidFill>
                          <a:latin typeface="Segoe UI"/>
                        </a:rPr>
                        <a:t>Bank payment</a:t>
                      </a:r>
                    </a:p>
                  </a:txBody>
                  <a:tcPr marL="73152" marR="73152" marT="36576" marB="36576" anchor="ctr">
                    <a:solidFill>
                      <a:srgbClr val="FFFFFF"/>
                    </a:solidFill>
                  </a:tcPr>
                </a:tc>
                <a:tc>
                  <a:txBody>
                    <a:bodyPr/>
                    <a:lstStyle/>
                    <a:p>
                      <a:r>
                        <a:rPr sz="1200" b="0">
                          <a:solidFill>
                            <a:srgbClr val="3A2414"/>
                          </a:solidFill>
                          <a:latin typeface="Segoe UI"/>
                        </a:rPr>
                        <a:t>Bank transfer plus a GiroCode (a QR code that banking apps scan to fill in the transfer)</a:t>
                      </a:r>
                    </a:p>
                  </a:txBody>
                  <a:tcPr marL="73152" marR="73152" marT="36576" marB="36576" anchor="ctr">
                    <a:solidFill>
                      <a:srgbClr val="FFFFFF"/>
                    </a:solidFill>
                  </a:tcPr>
                </a:tc>
                <a:tc>
                  <a:txBody>
                    <a:bodyPr/>
                    <a:lstStyle/>
                    <a:p>
                      <a:r>
                        <a:rPr sz="1200" b="0">
                          <a:solidFill>
                            <a:srgbClr val="3A2414"/>
                          </a:solidFill>
                          <a:latin typeface="Segoe UI"/>
                        </a:rPr>
                        <a:t>Free; payments are matched by hand or from a CSV export</a:t>
                      </a:r>
                    </a:p>
                  </a:txBody>
                  <a:tcPr marL="73152" marR="73152" marT="36576" marB="36576" anchor="ctr">
                    <a:solidFill>
                      <a:srgbClr val="FFFFFF"/>
                    </a:solidFill>
                  </a:tcPr>
                </a:tc>
                <a:tc>
                  <a:txBody>
                    <a:bodyPr/>
                    <a:lstStyle/>
                    <a:p>
                      <a:r>
                        <a:rPr sz="12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a:solidFill>
                            <a:srgbClr val="3A2414"/>
                          </a:solidFill>
                          <a:latin typeface="Segoe UI"/>
                        </a:rPr>
                        <a:t>Desk payment</a:t>
                      </a:r>
                    </a:p>
                  </a:txBody>
                  <a:tcPr marL="73152" marR="73152" marT="36576" marB="36576" anchor="ctr">
                    <a:solidFill>
                      <a:srgbClr val="F6EFE0"/>
                    </a:solidFill>
                  </a:tcPr>
                </a:tc>
                <a:tc>
                  <a:txBody>
                    <a:bodyPr/>
                    <a:lstStyle/>
                    <a:p>
                      <a:r>
                        <a:rPr sz="1200" b="0">
                          <a:solidFill>
                            <a:srgbClr val="3A2414"/>
                          </a:solidFill>
                          <a:latin typeface="Segoe UI"/>
                        </a:rPr>
                        <a:t>Cash; optional card reader (for example SumUp)</a:t>
                      </a:r>
                    </a:p>
                  </a:txBody>
                  <a:tcPr marL="73152" marR="73152" marT="36576" marB="36576" anchor="ctr">
                    <a:solidFill>
                      <a:srgbClr val="F6EFE0"/>
                    </a:solidFill>
                  </a:tcPr>
                </a:tc>
                <a:tc>
                  <a:txBody>
                    <a:bodyPr/>
                    <a:lstStyle/>
                    <a:p>
                      <a:r>
                        <a:rPr sz="1200" b="0">
                          <a:solidFill>
                            <a:srgbClr val="3A2414"/>
                          </a:solidFill>
                          <a:latin typeface="Segoe UI"/>
                        </a:rPr>
                        <a:t>Card fees</a:t>
                      </a:r>
                    </a:p>
                  </a:txBody>
                  <a:tcPr marL="73152" marR="73152" marT="36576" marB="36576" anchor="ctr">
                    <a:solidFill>
                      <a:srgbClr val="F6EFE0"/>
                    </a:solidFill>
                  </a:tcPr>
                </a:tc>
                <a:tc>
                  <a:txBody>
                    <a:bodyPr/>
                    <a:lstStyle/>
                    <a:p>
                      <a:r>
                        <a:rPr sz="1200" b="0">
                          <a:solidFill>
                            <a:srgbClr val="3A2414"/>
                          </a:solidFill>
                          <a:latin typeface="Segoe UI"/>
                        </a:rPr>
                        <a:t>—</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a:solidFill>
                            <a:srgbClr val="3A2414"/>
                          </a:solidFill>
                          <a:latin typeface="Segoe UI"/>
                        </a:rPr>
                        <a:t>QR scanning</a:t>
                      </a:r>
                    </a:p>
                  </a:txBody>
                  <a:tcPr marL="73152" marR="73152" marT="36576" marB="36576" anchor="ctr">
                    <a:solidFill>
                      <a:srgbClr val="FFFFFF"/>
                    </a:solidFill>
                  </a:tcPr>
                </a:tc>
                <a:tc>
                  <a:txBody>
                    <a:bodyPr/>
                    <a:lstStyle/>
                    <a:p>
                      <a:r>
                        <a:rPr sz="1200" b="0">
                          <a:solidFill>
                            <a:srgbClr val="3A2414"/>
                          </a:solidFill>
                          <a:latin typeface="Segoe UI"/>
                        </a:rPr>
                        <a:t>html5-qrcode (free in-browser scanner library)</a:t>
                      </a:r>
                    </a:p>
                  </a:txBody>
                  <a:tcPr marL="73152" marR="73152" marT="36576" marB="36576" anchor="ctr">
                    <a:solidFill>
                      <a:srgbClr val="FFFFFF"/>
                    </a:solidFill>
                  </a:tcPr>
                </a:tc>
                <a:tc>
                  <a:txBody>
                    <a:bodyPr/>
                    <a:lstStyle/>
                    <a:p>
                      <a:r>
                        <a:rPr sz="1200" b="0">
                          <a:solidFill>
                            <a:srgbClr val="3A2414"/>
                          </a:solidFill>
                          <a:latin typeface="Segoe UI"/>
                        </a:rPr>
                        <a:t>—</a:t>
                      </a:r>
                    </a:p>
                  </a:txBody>
                  <a:tcPr marL="73152" marR="73152" marT="36576" marB="36576" anchor="ctr">
                    <a:solidFill>
                      <a:srgbClr val="FFFFFF"/>
                    </a:solidFill>
                  </a:tcPr>
                </a:tc>
                <a:tc>
                  <a:txBody>
                    <a:bodyPr/>
                    <a:lstStyle/>
                    <a:p>
                      <a:r>
                        <a:rPr sz="12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a:solidFill>
                            <a:srgbClr val="3A2414"/>
                          </a:solidFill>
                          <a:latin typeface="Segoe UI"/>
                        </a:rPr>
                        <a:t>Analytics</a:t>
                      </a:r>
                    </a:p>
                  </a:txBody>
                  <a:tcPr marL="73152" marR="73152" marT="36576" marB="36576" anchor="ctr">
                    <a:solidFill>
                      <a:srgbClr val="F6EFE0"/>
                    </a:solidFill>
                  </a:tcPr>
                </a:tc>
                <a:tc>
                  <a:txBody>
                    <a:bodyPr/>
                    <a:lstStyle/>
                    <a:p>
                      <a:r>
                        <a:rPr sz="1200" b="0">
                          <a:solidFill>
                            <a:srgbClr val="3A2414"/>
                          </a:solidFill>
                          <a:latin typeface="Segoe UI"/>
                        </a:rPr>
                        <a:t>Apps Script scheduled export to Google Sheets, then Looker Studio dashboards</a:t>
                      </a:r>
                    </a:p>
                  </a:txBody>
                  <a:tcPr marL="73152" marR="73152" marT="36576" marB="36576" anchor="ctr">
                    <a:solidFill>
                      <a:srgbClr val="F6EFE0"/>
                    </a:solidFill>
                  </a:tcPr>
                </a:tc>
                <a:tc>
                  <a:txBody>
                    <a:bodyPr/>
                    <a:lstStyle/>
                    <a:p>
                      <a:r>
                        <a:rPr sz="1200" b="0">
                          <a:solidFill>
                            <a:srgbClr val="3A2414"/>
                          </a:solidFill>
                          <a:latin typeface="Segoe UI"/>
                        </a:rPr>
                        <a:t>About 10 million cells per sheet</a:t>
                      </a:r>
                    </a:p>
                  </a:txBody>
                  <a:tcPr marL="73152" marR="73152" marT="36576" marB="36576" anchor="ctr">
                    <a:solidFill>
                      <a:srgbClr val="F6EFE0"/>
                    </a:solidFill>
                  </a:tcPr>
                </a:tc>
                <a:tc>
                  <a:txBody>
                    <a:bodyPr/>
                    <a:lstStyle/>
                    <a:p>
                      <a:r>
                        <a:rPr sz="1200" b="0">
                          <a:solidFill>
                            <a:srgbClr val="3A2414"/>
                          </a:solidFill>
                          <a:latin typeface="Segoe UI"/>
                        </a:rPr>
                        <a:t>BigQuery, which needs the paid plan</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Bot protection</a:t>
                      </a:r>
                    </a:p>
                  </a:txBody>
                  <a:tcPr marL="73152" marR="73152" marT="36576" marB="36576" anchor="ctr">
                    <a:solidFill>
                      <a:srgbClr val="FFFFFF"/>
                    </a:solidFill>
                  </a:tcPr>
                </a:tc>
                <a:tc>
                  <a:txBody>
                    <a:bodyPr/>
                    <a:lstStyle/>
                    <a:p>
                      <a:r>
                        <a:rPr sz="1200" b="0">
                          <a:solidFill>
                            <a:srgbClr val="3A2414"/>
                          </a:solidFill>
                          <a:latin typeface="Segoe UI"/>
                        </a:rPr>
                        <a:t>reCAPTCHA check (Firebase App Check, already in app.js) plus a hidden trap field</a:t>
                      </a:r>
                    </a:p>
                  </a:txBody>
                  <a:tcPr marL="73152" marR="73152" marT="36576" marB="36576" anchor="ctr">
                    <a:solidFill>
                      <a:srgbClr val="FFFFFF"/>
                    </a:solidFill>
                  </a:tcPr>
                </a:tc>
                <a:tc>
                  <a:txBody>
                    <a:bodyPr/>
                    <a:lstStyle/>
                    <a:p>
                      <a:r>
                        <a:rPr sz="1200" b="0">
                          <a:solidFill>
                            <a:srgbClr val="3A2414"/>
                          </a:solidFill>
                          <a:latin typeface="Segoe UI"/>
                        </a:rPr>
                        <a:t>Free tier</a:t>
                      </a:r>
                    </a:p>
                  </a:txBody>
                  <a:tcPr marL="73152" marR="73152" marT="36576" marB="36576" anchor="ctr">
                    <a:solidFill>
                      <a:srgbClr val="FFFFFF"/>
                    </a:solidFill>
                  </a:tcPr>
                </a:tc>
                <a:tc>
                  <a:txBody>
                    <a:bodyPr/>
                    <a:lstStyle/>
                    <a:p>
                      <a:r>
                        <a:rPr sz="12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200" b="1">
                          <a:solidFill>
                            <a:srgbClr val="3A2414"/>
                          </a:solidFill>
                          <a:latin typeface="Segoe UI"/>
                        </a:rPr>
                        <a:t>Testing</a:t>
                      </a:r>
                    </a:p>
                  </a:txBody>
                  <a:tcPr marL="73152" marR="73152" marT="36576" marB="36576" anchor="ctr">
                    <a:solidFill>
                      <a:srgbClr val="F6EFE0"/>
                    </a:solidFill>
                  </a:tcPr>
                </a:tc>
                <a:tc>
                  <a:txBody>
                    <a:bodyPr/>
                    <a:lstStyle/>
                    <a:p>
                      <a:r>
                        <a:rPr sz="1200" b="0">
                          <a:solidFill>
                            <a:srgbClr val="3A2414"/>
                          </a:solidFill>
                          <a:latin typeface="Segoe UI"/>
                        </a:rPr>
                        <a:t>Firebase Emulator Suite (runs locally)</a:t>
                      </a:r>
                    </a:p>
                  </a:txBody>
                  <a:tcPr marL="73152" marR="73152" marT="36576" marB="36576" anchor="ctr">
                    <a:solidFill>
                      <a:srgbClr val="F6EFE0"/>
                    </a:solidFill>
                  </a:tcPr>
                </a:tc>
                <a:tc>
                  <a:txBody>
                    <a:bodyPr/>
                    <a:lstStyle/>
                    <a:p>
                      <a:r>
                        <a:rPr sz="1200" b="0">
                          <a:solidFill>
                            <a:srgbClr val="3A2414"/>
                          </a:solidFill>
                          <a:latin typeface="Segoe UI"/>
                        </a:rPr>
                        <a:t>—</a:t>
                      </a:r>
                    </a:p>
                  </a:txBody>
                  <a:tcPr marL="73152" marR="73152" marT="36576" marB="36576" anchor="ctr">
                    <a:solidFill>
                      <a:srgbClr val="F6EFE0"/>
                    </a:solidFill>
                  </a:tcPr>
                </a:tc>
                <a:tc>
                  <a:txBody>
                    <a:bodyPr/>
                    <a:lstStyle/>
                    <a:p>
                      <a:r>
                        <a:rPr sz="1200" b="0">
                          <a:solidFill>
                            <a:srgbClr val="3A2414"/>
                          </a:solidFill>
                          <a:latin typeface="Segoe UI"/>
                        </a:rPr>
                        <a:t>—</a:t>
                      </a: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Roles and responsibilities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12</a:t>
            </a:r>
          </a:p>
        </p:txBody>
      </p:sp>
      <p:pic>
        <p:nvPicPr>
          <p:cNvPr id="10" name="Picture 6" descr="image.png"/>
          <p:cNvPicPr>
            <a:picLocks noChangeAspect="1"/>
          </p:cNvPicPr>
          <p:nvPr/>
        </p:nvPicPr>
        <p:blipFill>
          <a:blip r:embed="rId3"/>
          <a:stretch>
            <a:fillRect/>
          </a:stretch>
        </p:blipFill>
        <p:spPr>
          <a:xfrm>
            <a:off x="9282372" y="1188720"/>
            <a:ext cx="1585065" cy="5166358"/>
          </a:xfrm>
          <a:prstGeom prst="rect">
            <a:avLst/>
          </a:prstGeom>
        </p:spPr>
      </p:pic>
      <p:sp>
        <p:nvSpPr>
          <p:cNvPr id="8" name="TextBox 7"/>
          <p:cNvSpPr txBox="1"/>
          <p:nvPr/>
        </p:nvSpPr>
        <p:spPr>
          <a:xfrm>
            <a:off x="411480" y="1280160"/>
            <a:ext cx="7683795" cy="5166360"/>
          </a:xfrm>
          <a:prstGeom prst="rect">
            <a:avLst/>
          </a:prstGeom>
          <a:noFill/>
        </p:spPr>
        <p:txBody>
          <a:bodyPr wrap="square">
            <a:spAutoFit/>
          </a:bodyPr>
          <a:lstStyle/>
          <a:p>
            <a:pPr marL="320040" indent="-320040">
              <a:spcAft>
                <a:spcPts val="600"/>
              </a:spcAft>
            </a:pPr>
            <a:r>
              <a:rPr sz="1700" b="1">
                <a:solidFill>
                  <a:srgbClr val="B3781A"/>
                </a:solidFill>
                <a:latin typeface="Segoe UI"/>
              </a:rPr>
              <a:t>•	</a:t>
            </a:r>
            <a:r>
              <a:rPr sz="1700" b="0">
                <a:solidFill>
                  <a:srgbClr val="3A2414"/>
                </a:solidFill>
                <a:latin typeface="Segoe UI"/>
              </a:rPr>
              <a:t>Website Admin - event settings, sevas and prices, edit window, staff and roles, privacy</a:t>
            </a:r>
          </a:p>
          <a:p>
            <a:pPr marL="320040" indent="-320040">
              <a:spcAft>
                <a:spcPts val="600"/>
              </a:spcAft>
            </a:pPr>
            <a:r>
              <a:rPr sz="1700" b="1">
                <a:solidFill>
                  <a:srgbClr val="B3781A"/>
                </a:solidFill>
                <a:latin typeface="Segoe UI"/>
              </a:rPr>
              <a:t>•	</a:t>
            </a:r>
            <a:r>
              <a:rPr sz="1700" b="0">
                <a:solidFill>
                  <a:srgbClr val="3A2414"/>
                </a:solidFill>
                <a:latin typeface="Segoe UI"/>
              </a:rPr>
              <a:t>Ticketing Admin - invitations, payments, refunds, waitlist, edits on behalf, exports</a:t>
            </a:r>
          </a:p>
          <a:p>
            <a:pPr marL="320040" indent="-320040">
              <a:spcAft>
                <a:spcPts val="600"/>
              </a:spcAft>
            </a:pPr>
            <a:r>
              <a:rPr sz="1700" b="1">
                <a:solidFill>
                  <a:srgbClr val="B3781A"/>
                </a:solidFill>
                <a:latin typeface="Segoe UI"/>
              </a:rPr>
              <a:t>•	</a:t>
            </a:r>
            <a:r>
              <a:rPr sz="1700" b="0">
                <a:solidFill>
                  <a:srgbClr val="3A2414"/>
                </a:solidFill>
                <a:latin typeface="Segoe UI"/>
              </a:rPr>
              <a:t>Registrar - scan QR, check in with actual headcount, desk sevas and cash, walk-ins</a:t>
            </a:r>
          </a:p>
          <a:p>
            <a:pPr marL="320040" indent="-320040">
              <a:spcAft>
                <a:spcPts val="600"/>
              </a:spcAft>
            </a:pPr>
            <a:r>
              <a:rPr sz="1700" b="1">
                <a:solidFill>
                  <a:srgbClr val="B3781A"/>
                </a:solidFill>
                <a:latin typeface="Segoe UI"/>
              </a:rPr>
              <a:t>•	</a:t>
            </a:r>
            <a:r>
              <a:rPr sz="1700" b="0">
                <a:solidFill>
                  <a:srgbClr val="3A2414"/>
                </a:solidFill>
                <a:latin typeface="Segoe UI"/>
              </a:rPr>
              <a:t>Attendee - RSVP, register, pay, edit own registration within the window</a:t>
            </a:r>
          </a:p>
          <a:p>
            <a:pPr marL="320040" indent="-320040">
              <a:spcAft>
                <a:spcPts val="600"/>
              </a:spcAft>
            </a:pPr>
            <a:r>
              <a:rPr sz="1700" b="1">
                <a:solidFill>
                  <a:srgbClr val="B3781A"/>
                </a:solidFill>
                <a:latin typeface="Segoe UI"/>
              </a:rPr>
              <a:t>•	</a:t>
            </a:r>
            <a:r>
              <a:rPr sz="1700" b="0">
                <a:solidFill>
                  <a:srgbClr val="3A2414"/>
                </a:solidFill>
                <a:latin typeface="Segoe UI"/>
              </a:rPr>
              <a:t>Keep money tasks separate: whoever sets prices doesn't confirm payments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Permission matrix</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13</a:t>
            </a:r>
          </a:p>
        </p:txBody>
      </p:sp>
      <p:graphicFrame>
        <p:nvGraphicFramePr>
          <p:cNvPr id="7" name="Table 6"/>
          <p:cNvGraphicFramePr>
            <a:graphicFrameLocks noGrp="1"/>
          </p:cNvGraphicFramePr>
          <p:nvPr/>
        </p:nvGraphicFramePr>
        <p:xfrm>
          <a:off x="411480" y="1188720"/>
          <a:ext cx="11368733" cy="4608576"/>
        </p:xfrm>
        <a:graphic>
          <a:graphicData uri="http://schemas.openxmlformats.org/drawingml/2006/table">
            <a:tbl>
              <a:tblPr firstRow="1" bandRow="1">
                <a:tableStyleId>{5C22544A-7EE6-4342-B048-85BDC9FD1C3A}</a:tableStyleId>
              </a:tblPr>
              <a:tblGrid>
                <a:gridCol w="4116266">
                  <a:extLst>
                    <a:ext uri="{9D8B030D-6E8A-4147-A177-3AD203B41FA5}">
                      <a16:colId xmlns:a16="http://schemas.microsoft.com/office/drawing/2014/main" val="20000"/>
                    </a:ext>
                  </a:extLst>
                </a:gridCol>
                <a:gridCol w="1568101">
                  <a:extLst>
                    <a:ext uri="{9D8B030D-6E8A-4147-A177-3AD203B41FA5}">
                      <a16:colId xmlns:a16="http://schemas.microsoft.com/office/drawing/2014/main" val="20001"/>
                    </a:ext>
                  </a:extLst>
                </a:gridCol>
                <a:gridCol w="1960126">
                  <a:extLst>
                    <a:ext uri="{9D8B030D-6E8A-4147-A177-3AD203B41FA5}">
                      <a16:colId xmlns:a16="http://schemas.microsoft.com/office/drawing/2014/main" val="20002"/>
                    </a:ext>
                  </a:extLst>
                </a:gridCol>
                <a:gridCol w="1960126">
                  <a:extLst>
                    <a:ext uri="{9D8B030D-6E8A-4147-A177-3AD203B41FA5}">
                      <a16:colId xmlns:a16="http://schemas.microsoft.com/office/drawing/2014/main" val="20003"/>
                    </a:ext>
                  </a:extLst>
                </a:gridCol>
                <a:gridCol w="1764114">
                  <a:extLst>
                    <a:ext uri="{9D8B030D-6E8A-4147-A177-3AD203B41FA5}">
                      <a16:colId xmlns:a16="http://schemas.microsoft.com/office/drawing/2014/main" val="20004"/>
                    </a:ext>
                  </a:extLst>
                </a:gridCol>
              </a:tblGrid>
              <a:tr h="329184">
                <a:tc>
                  <a:txBody>
                    <a:bodyPr/>
                    <a:lstStyle/>
                    <a:p>
                      <a:r>
                        <a:rPr sz="1100" b="1">
                          <a:solidFill>
                            <a:srgbClr val="FFFFFF"/>
                          </a:solidFill>
                          <a:latin typeface="Segoe UI"/>
                        </a:rPr>
                        <a:t>What</a:t>
                      </a:r>
                    </a:p>
                  </a:txBody>
                  <a:tcPr marL="73152" marR="73152" marT="36576" marB="36576" anchor="ctr">
                    <a:solidFill>
                      <a:srgbClr val="6D1F2C"/>
                    </a:solidFill>
                  </a:tcPr>
                </a:tc>
                <a:tc>
                  <a:txBody>
                    <a:bodyPr/>
                    <a:lstStyle/>
                    <a:p>
                      <a:r>
                        <a:rPr sz="1100" b="1">
                          <a:solidFill>
                            <a:srgbClr val="FFFFFF"/>
                          </a:solidFill>
                          <a:latin typeface="Segoe UI"/>
                        </a:rPr>
                        <a:t>Website Admin</a:t>
                      </a:r>
                    </a:p>
                  </a:txBody>
                  <a:tcPr marL="73152" marR="73152" marT="36576" marB="36576" anchor="ctr">
                    <a:solidFill>
                      <a:srgbClr val="6D1F2C"/>
                    </a:solidFill>
                  </a:tcPr>
                </a:tc>
                <a:tc>
                  <a:txBody>
                    <a:bodyPr/>
                    <a:lstStyle/>
                    <a:p>
                      <a:r>
                        <a:rPr sz="1100" b="1">
                          <a:solidFill>
                            <a:srgbClr val="FFFFFF"/>
                          </a:solidFill>
                          <a:latin typeface="Segoe UI"/>
                        </a:rPr>
                        <a:t>Ticketing Admin</a:t>
                      </a:r>
                    </a:p>
                  </a:txBody>
                  <a:tcPr marL="73152" marR="73152" marT="36576" marB="36576" anchor="ctr">
                    <a:solidFill>
                      <a:srgbClr val="6D1F2C"/>
                    </a:solidFill>
                  </a:tcPr>
                </a:tc>
                <a:tc>
                  <a:txBody>
                    <a:bodyPr/>
                    <a:lstStyle/>
                    <a:p>
                      <a:r>
                        <a:rPr sz="1100" b="1">
                          <a:solidFill>
                            <a:srgbClr val="FFFFFF"/>
                          </a:solidFill>
                          <a:latin typeface="Segoe UI"/>
                        </a:rPr>
                        <a:t>Registrar</a:t>
                      </a:r>
                    </a:p>
                  </a:txBody>
                  <a:tcPr marL="73152" marR="73152" marT="36576" marB="36576" anchor="ctr">
                    <a:solidFill>
                      <a:srgbClr val="6D1F2C"/>
                    </a:solidFill>
                  </a:tcPr>
                </a:tc>
                <a:tc>
                  <a:txBody>
                    <a:bodyPr/>
                    <a:lstStyle/>
                    <a:p>
                      <a:r>
                        <a:rPr sz="1100" b="1">
                          <a:solidFill>
                            <a:srgbClr val="FFFFFF"/>
                          </a:solidFill>
                          <a:latin typeface="Segoe UI"/>
                        </a:rPr>
                        <a:t>Attendee</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100" b="1">
                          <a:solidFill>
                            <a:srgbClr val="3A2414"/>
                          </a:solidFill>
                          <a:latin typeface="Segoe UI"/>
                        </a:rPr>
                        <a:t>Event settings: dates, capacity, edit window</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View</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100" b="1">
                          <a:solidFill>
                            <a:srgbClr val="3A2414"/>
                          </a:solidFill>
                          <a:latin typeface="Segoe UI"/>
                        </a:rPr>
                        <a:t>Seva list and prices</a:t>
                      </a:r>
                    </a:p>
                  </a:txBody>
                  <a:tcPr marL="73152" marR="73152" marT="36576" marB="36576" anchor="ctr">
                    <a:solidFill>
                      <a:srgbClr val="F6EFE0"/>
                    </a:solidFill>
                  </a:tcPr>
                </a:tc>
                <a:tc>
                  <a:txBody>
                    <a:bodyPr/>
                    <a:lstStyle/>
                    <a:p>
                      <a:r>
                        <a:rPr sz="1100" b="0">
                          <a:solidFill>
                            <a:srgbClr val="3A2414"/>
                          </a:solidFill>
                          <a:latin typeface="Segoe UI"/>
                        </a:rPr>
                        <a:t>Yes</a:t>
                      </a:r>
                    </a:p>
                  </a:txBody>
                  <a:tcPr marL="73152" marR="73152" marT="36576" marB="36576" anchor="ctr">
                    <a:solidFill>
                      <a:srgbClr val="F6EFE0"/>
                    </a:solidFill>
                  </a:tcPr>
                </a:tc>
                <a:tc>
                  <a:txBody>
                    <a:bodyPr/>
                    <a:lstStyle/>
                    <a:p>
                      <a:r>
                        <a:rPr sz="1100" b="0">
                          <a:solidFill>
                            <a:srgbClr val="3A2414"/>
                          </a:solidFill>
                          <a:latin typeface="Segoe UI"/>
                        </a:rPr>
                        <a:t>View</a:t>
                      </a:r>
                    </a:p>
                  </a:txBody>
                  <a:tcPr marL="73152" marR="73152" marT="36576" marB="36576" anchor="ctr">
                    <a:solidFill>
                      <a:srgbClr val="F6EFE0"/>
                    </a:solidFill>
                  </a:tcPr>
                </a:tc>
                <a:tc>
                  <a:txBody>
                    <a:bodyPr/>
                    <a:lstStyle/>
                    <a:p>
                      <a:r>
                        <a:rPr sz="1100" b="0">
                          <a:solidFill>
                            <a:srgbClr val="3A2414"/>
                          </a:solidFill>
                          <a:latin typeface="Segoe UI"/>
                        </a:rPr>
                        <a:t>View</a:t>
                      </a:r>
                    </a:p>
                  </a:txBody>
                  <a:tcPr marL="73152" marR="73152" marT="36576" marB="36576" anchor="ctr">
                    <a:solidFill>
                      <a:srgbClr val="F6EFE0"/>
                    </a:solidFill>
                  </a:tcPr>
                </a:tc>
                <a:tc>
                  <a:txBody>
                    <a:bodyPr/>
                    <a:lstStyle/>
                    <a:p>
                      <a:r>
                        <a:rPr sz="1100" b="0">
                          <a:solidFill>
                            <a:srgbClr val="3A2414"/>
                          </a:solidFill>
                          <a:latin typeface="Segoe UI"/>
                        </a:rPr>
                        <a:t>View</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100" b="1">
                          <a:solidFill>
                            <a:srgbClr val="3A2414"/>
                          </a:solidFill>
                          <a:latin typeface="Segoe UI"/>
                        </a:rPr>
                        <a:t>Staff accounts and roles</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100" b="1">
                          <a:solidFill>
                            <a:srgbClr val="3A2414"/>
                          </a:solidFill>
                          <a:latin typeface="Segoe UI"/>
                        </a:rPr>
                        <a:t>Site text, privacy notice, data deletion requests</a:t>
                      </a:r>
                    </a:p>
                  </a:txBody>
                  <a:tcPr marL="73152" marR="73152" marT="36576" marB="36576" anchor="ctr">
                    <a:solidFill>
                      <a:srgbClr val="F6EFE0"/>
                    </a:solidFill>
                  </a:tcPr>
                </a:tc>
                <a:tc>
                  <a:txBody>
                    <a:bodyPr/>
                    <a:lstStyle/>
                    <a:p>
                      <a:r>
                        <a:rPr sz="1100" b="0">
                          <a:solidFill>
                            <a:srgbClr val="3A2414"/>
                          </a:solidFill>
                          <a:latin typeface="Segoe UI"/>
                        </a:rPr>
                        <a:t>Yes</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100" b="1">
                          <a:solidFill>
                            <a:srgbClr val="3A2414"/>
                          </a:solidFill>
                          <a:latin typeface="Segoe UI"/>
                        </a:rPr>
                        <a:t>Send invitations and reminders</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100" b="1">
                          <a:solidFill>
                            <a:srgbClr val="3A2414"/>
                          </a:solidFill>
                          <a:latin typeface="Segoe UI"/>
                        </a:rPr>
                        <a:t>See all registrations</a:t>
                      </a:r>
                    </a:p>
                  </a:txBody>
                  <a:tcPr marL="73152" marR="73152" marT="36576" marB="36576" anchor="ctr">
                    <a:solidFill>
                      <a:srgbClr val="F6EFE0"/>
                    </a:solidFill>
                  </a:tcPr>
                </a:tc>
                <a:tc>
                  <a:txBody>
                    <a:bodyPr/>
                    <a:lstStyle/>
                    <a:p>
                      <a:r>
                        <a:rPr sz="1100" b="0">
                          <a:solidFill>
                            <a:srgbClr val="3A2414"/>
                          </a:solidFill>
                          <a:latin typeface="Segoe UI"/>
                        </a:rPr>
                        <a:t>View</a:t>
                      </a:r>
                    </a:p>
                  </a:txBody>
                  <a:tcPr marL="73152" marR="73152" marT="36576" marB="36576" anchor="ctr">
                    <a:solidFill>
                      <a:srgbClr val="F6EFE0"/>
                    </a:solidFill>
                  </a:tcPr>
                </a:tc>
                <a:tc>
                  <a:txBody>
                    <a:bodyPr/>
                    <a:lstStyle/>
                    <a:p>
                      <a:r>
                        <a:rPr sz="1100" b="0">
                          <a:solidFill>
                            <a:srgbClr val="3A2414"/>
                          </a:solidFill>
                          <a:latin typeface="Segoe UI"/>
                        </a:rPr>
                        <a:t>Yes</a:t>
                      </a:r>
                    </a:p>
                  </a:txBody>
                  <a:tcPr marL="73152" marR="73152" marT="36576" marB="36576" anchor="ctr">
                    <a:solidFill>
                      <a:srgbClr val="F6EFE0"/>
                    </a:solidFill>
                  </a:tcPr>
                </a:tc>
                <a:tc>
                  <a:txBody>
                    <a:bodyPr/>
                    <a:lstStyle/>
                    <a:p>
                      <a:r>
                        <a:rPr sz="1100" b="0">
                          <a:solidFill>
                            <a:srgbClr val="3A2414"/>
                          </a:solidFill>
                          <a:latin typeface="Segoe UI"/>
                        </a:rPr>
                        <a:t>Search only, limited fields</a:t>
                      </a:r>
                    </a:p>
                  </a:txBody>
                  <a:tcPr marL="73152" marR="73152" marT="36576" marB="36576" anchor="ctr">
                    <a:solidFill>
                      <a:srgbClr val="F6EFE0"/>
                    </a:solidFill>
                  </a:tcPr>
                </a:tc>
                <a:tc>
                  <a:txBody>
                    <a:bodyPr/>
                    <a:lstStyle/>
                    <a:p>
                      <a:r>
                        <a:rPr sz="1100" b="0">
                          <a:solidFill>
                            <a:srgbClr val="3A2414"/>
                          </a:solidFill>
                          <a:latin typeface="Segoe UI"/>
                        </a:rPr>
                        <a:t>Own only</a:t>
                      </a: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100" b="1">
                          <a:solidFill>
                            <a:srgbClr val="3A2414"/>
                          </a:solidFill>
                          <a:latin typeface="Segoe UI"/>
                        </a:rPr>
                        <a:t>Mark paid, refunds, cancel</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7"/>
                  </a:ext>
                </a:extLst>
              </a:tr>
              <a:tr h="329184">
                <a:tc>
                  <a:txBody>
                    <a:bodyPr/>
                    <a:lstStyle/>
                    <a:p>
                      <a:r>
                        <a:rPr sz="1100" b="1">
                          <a:solidFill>
                            <a:srgbClr val="3A2414"/>
                          </a:solidFill>
                          <a:latin typeface="Segoe UI"/>
                        </a:rPr>
                        <a:t>Edit a registration</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tc>
                  <a:txBody>
                    <a:bodyPr/>
                    <a:lstStyle/>
                    <a:p>
                      <a:r>
                        <a:rPr sz="1100" b="0">
                          <a:solidFill>
                            <a:srgbClr val="3A2414"/>
                          </a:solidFill>
                          <a:latin typeface="Segoe UI"/>
                        </a:rPr>
                        <a:t>On behalf of attendee</a:t>
                      </a:r>
                    </a:p>
                  </a:txBody>
                  <a:tcPr marL="73152" marR="73152" marT="36576" marB="36576" anchor="ctr">
                    <a:solidFill>
                      <a:srgbClr val="F6EFE0"/>
                    </a:solidFill>
                  </a:tcPr>
                </a:tc>
                <a:tc>
                  <a:txBody>
                    <a:bodyPr/>
                    <a:lstStyle/>
                    <a:p>
                      <a:r>
                        <a:rPr sz="1100" b="0">
                          <a:solidFill>
                            <a:srgbClr val="3A2414"/>
                          </a:solidFill>
                          <a:latin typeface="Segoe UI"/>
                        </a:rPr>
                        <a:t>Headcount and desk sevas</a:t>
                      </a:r>
                    </a:p>
                  </a:txBody>
                  <a:tcPr marL="73152" marR="73152" marT="36576" marB="36576" anchor="ctr">
                    <a:solidFill>
                      <a:srgbClr val="F6EFE0"/>
                    </a:solidFill>
                  </a:tcPr>
                </a:tc>
                <a:tc>
                  <a:txBody>
                    <a:bodyPr/>
                    <a:lstStyle/>
                    <a:p>
                      <a:r>
                        <a:rPr sz="1100" b="0">
                          <a:solidFill>
                            <a:srgbClr val="3A2414"/>
                          </a:solidFill>
                          <a:latin typeface="Segoe UI"/>
                        </a:rPr>
                        <a:t>Own, within the window</a:t>
                      </a:r>
                    </a:p>
                  </a:txBody>
                  <a:tcPr marL="73152" marR="73152" marT="36576" marB="36576" anchor="ctr">
                    <a:solidFill>
                      <a:srgbClr val="F6EFE0"/>
                    </a:solidFill>
                  </a:tcPr>
                </a:tc>
                <a:extLst>
                  <a:ext uri="{0D108BD9-81ED-4DB2-BD59-A6C34878D82A}">
                    <a16:rowId xmlns:a16="http://schemas.microsoft.com/office/drawing/2014/main" val="10008"/>
                  </a:ext>
                </a:extLst>
              </a:tr>
              <a:tr h="329184">
                <a:tc>
                  <a:txBody>
                    <a:bodyPr/>
                    <a:lstStyle/>
                    <a:p>
                      <a:r>
                        <a:rPr sz="1100" b="1">
                          <a:solidFill>
                            <a:srgbClr val="3A2414"/>
                          </a:solidFill>
                          <a:latin typeface="Segoe UI"/>
                        </a:rPr>
                        <a:t>Move people up from the waitlist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Yes, or automatic</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09"/>
                  </a:ext>
                </a:extLst>
              </a:tr>
              <a:tr h="329184">
                <a:tc>
                  <a:txBody>
                    <a:bodyPr/>
                    <a:lstStyle/>
                    <a:p>
                      <a:r>
                        <a:rPr sz="1100" b="1">
                          <a:solidFill>
                            <a:srgbClr val="3A2414"/>
                          </a:solidFill>
                          <a:latin typeface="Segoe UI"/>
                        </a:rPr>
                        <a:t>Check-in and actual headcount</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tc>
                  <a:txBody>
                    <a:bodyPr/>
                    <a:lstStyle/>
                    <a:p>
                      <a:r>
                        <a:rPr sz="1100" b="0">
                          <a:solidFill>
                            <a:srgbClr val="3A2414"/>
                          </a:solidFill>
                          <a:latin typeface="Segoe UI"/>
                        </a:rPr>
                        <a:t>Yes</a:t>
                      </a:r>
                    </a:p>
                  </a:txBody>
                  <a:tcPr marL="73152" marR="73152" marT="36576" marB="36576" anchor="ctr">
                    <a:solidFill>
                      <a:srgbClr val="F6EFE0"/>
                    </a:solidFill>
                  </a:tcPr>
                </a:tc>
                <a:tc>
                  <a:txBody>
                    <a:bodyPr/>
                    <a:lstStyle/>
                    <a:p>
                      <a:r>
                        <a:rPr sz="1100" b="0">
                          <a:solidFill>
                            <a:srgbClr val="3A2414"/>
                          </a:solidFill>
                          <a:latin typeface="Segoe UI"/>
                        </a:rPr>
                        <a:t>Yes</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extLst>
                  <a:ext uri="{0D108BD9-81ED-4DB2-BD59-A6C34878D82A}">
                    <a16:rowId xmlns:a16="http://schemas.microsoft.com/office/drawing/2014/main" val="10010"/>
                  </a:ext>
                </a:extLst>
              </a:tr>
              <a:tr h="329184">
                <a:tc>
                  <a:txBody>
                    <a:bodyPr/>
                    <a:lstStyle/>
                    <a:p>
                      <a:r>
                        <a:rPr sz="1100" b="1">
                          <a:solidFill>
                            <a:srgbClr val="3A2414"/>
                          </a:solidFill>
                          <a:latin typeface="Segoe UI"/>
                        </a:rPr>
                        <a:t>Add a seva at the desk and take cash</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11"/>
                  </a:ext>
                </a:extLst>
              </a:tr>
              <a:tr h="329184">
                <a:tc>
                  <a:txBody>
                    <a:bodyPr/>
                    <a:lstStyle/>
                    <a:p>
                      <a:r>
                        <a:rPr sz="1100" b="1">
                          <a:solidFill>
                            <a:srgbClr val="3A2414"/>
                          </a:solidFill>
                          <a:latin typeface="Segoe UI"/>
                        </a:rPr>
                        <a:t>Walk-in registration</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tc>
                  <a:txBody>
                    <a:bodyPr/>
                    <a:lstStyle/>
                    <a:p>
                      <a:r>
                        <a:rPr sz="1100" b="0">
                          <a:solidFill>
                            <a:srgbClr val="3A2414"/>
                          </a:solidFill>
                          <a:latin typeface="Segoe UI"/>
                        </a:rPr>
                        <a:t>Yes, if allowed</a:t>
                      </a:r>
                    </a:p>
                  </a:txBody>
                  <a:tcPr marL="73152" marR="73152" marT="36576" marB="36576" anchor="ctr">
                    <a:solidFill>
                      <a:srgbClr val="F6EFE0"/>
                    </a:solidFill>
                  </a:tcPr>
                </a:tc>
                <a:tc>
                  <a:txBody>
                    <a:bodyPr/>
                    <a:lstStyle/>
                    <a:p>
                      <a:r>
                        <a:rPr sz="1100" b="0">
                          <a:solidFill>
                            <a:srgbClr val="3A2414"/>
                          </a:solidFill>
                          <a:latin typeface="Segoe UI"/>
                        </a:rPr>
                        <a:t>—</a:t>
                      </a:r>
                    </a:p>
                  </a:txBody>
                  <a:tcPr marL="73152" marR="73152" marT="36576" marB="36576" anchor="ctr">
                    <a:solidFill>
                      <a:srgbClr val="F6EFE0"/>
                    </a:solidFill>
                  </a:tcPr>
                </a:tc>
                <a:extLst>
                  <a:ext uri="{0D108BD9-81ED-4DB2-BD59-A6C34878D82A}">
                    <a16:rowId xmlns:a16="http://schemas.microsoft.com/office/drawing/2014/main" val="10012"/>
                  </a:ext>
                </a:extLst>
              </a:tr>
              <a:tr h="329184">
                <a:tc>
                  <a:txBody>
                    <a:bodyPr/>
                    <a:lstStyle/>
                    <a:p>
                      <a:r>
                        <a:rPr sz="1100" b="1">
                          <a:solidFill>
                            <a:srgbClr val="3A2414"/>
                          </a:solidFill>
                          <a:latin typeface="Segoe UI"/>
                        </a:rPr>
                        <a:t>Analytics and exports</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Yes</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tc>
                  <a:txBody>
                    <a:bodyPr/>
                    <a:lstStyle/>
                    <a:p>
                      <a:r>
                        <a:rPr sz="1100" b="0">
                          <a:solidFill>
                            <a:srgbClr val="3A2414"/>
                          </a:solidFill>
                          <a:latin typeface="Segoe UI"/>
                        </a:rPr>
                        <a:t>—</a:t>
                      </a:r>
                    </a:p>
                  </a:txBody>
                  <a:tcPr marL="73152" marR="73152" marT="36576" marB="36576"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TextBox 1"/>
          <p:cNvSpPr txBox="1"/>
          <p:nvPr/>
        </p:nvSpPr>
        <p:spPr>
          <a:xfrm>
            <a:off x="731520" y="2011680"/>
            <a:ext cx="2286000" cy="1828800"/>
          </a:xfrm>
          <a:prstGeom prst="rect">
            <a:avLst/>
          </a:prstGeom>
          <a:noFill/>
        </p:spPr>
        <p:txBody>
          <a:bodyPr wrap="square" anchor="t">
            <a:spAutoFit/>
          </a:bodyPr>
          <a:lstStyle/>
          <a:p>
            <a:pPr algn="l"/>
            <a:r>
              <a:rPr sz="9600" b="1">
                <a:solidFill>
                  <a:srgbClr val="B3781A"/>
                </a:solidFill>
                <a:latin typeface="Georgia"/>
              </a:rPr>
              <a:t>03</a:t>
            </a:r>
          </a:p>
        </p:txBody>
      </p:sp>
      <p:sp>
        <p:nvSpPr>
          <p:cNvPr id="3" name="TextBox 2"/>
          <p:cNvSpPr txBox="1"/>
          <p:nvPr/>
        </p:nvSpPr>
        <p:spPr>
          <a:xfrm>
            <a:off x="2926080" y="2377440"/>
            <a:ext cx="8686800" cy="1097280"/>
          </a:xfrm>
          <a:prstGeom prst="rect">
            <a:avLst/>
          </a:prstGeom>
          <a:noFill/>
        </p:spPr>
        <p:txBody>
          <a:bodyPr wrap="square" anchor="t">
            <a:spAutoFit/>
          </a:bodyPr>
          <a:lstStyle/>
          <a:p>
            <a:pPr algn="l"/>
            <a:r>
              <a:rPr sz="4000" b="1">
                <a:solidFill>
                  <a:srgbClr val="FFFFFF"/>
                </a:solidFill>
                <a:latin typeface="Georgia"/>
              </a:rPr>
              <a:t>Flows</a:t>
            </a:r>
          </a:p>
        </p:txBody>
      </p:sp>
      <p:sp>
        <p:nvSpPr>
          <p:cNvPr id="4" name="TextBox 3"/>
          <p:cNvSpPr txBox="1"/>
          <p:nvPr/>
        </p:nvSpPr>
        <p:spPr>
          <a:xfrm>
            <a:off x="2926080" y="3474720"/>
            <a:ext cx="8686800" cy="914400"/>
          </a:xfrm>
          <a:prstGeom prst="rect">
            <a:avLst/>
          </a:prstGeom>
          <a:noFill/>
        </p:spPr>
        <p:txBody>
          <a:bodyPr wrap="square" anchor="t">
            <a:spAutoFit/>
          </a:bodyPr>
          <a:lstStyle/>
          <a:p>
            <a:pPr algn="l"/>
            <a:r>
              <a:rPr sz="1800" b="0">
                <a:solidFill>
                  <a:srgbClr val="DDC79A"/>
                </a:solidFill>
                <a:latin typeface="Segoe UI"/>
              </a:rPr>
              <a:t>End-to-end, status, payment (UML), edit window, desk, waitlist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End-to-end flow - what comes after what</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15</a:t>
            </a:r>
          </a:p>
        </p:txBody>
      </p:sp>
      <p:pic>
        <p:nvPicPr>
          <p:cNvPr id="10" name="Picture 6" descr="image.png"/>
          <p:cNvPicPr>
            <a:picLocks noChangeAspect="1"/>
          </p:cNvPicPr>
          <p:nvPr/>
        </p:nvPicPr>
        <p:blipFill>
          <a:blip r:embed="rId3"/>
          <a:stretch>
            <a:fillRect/>
          </a:stretch>
        </p:blipFill>
        <p:spPr>
          <a:xfrm>
            <a:off x="680221" y="1188720"/>
            <a:ext cx="3555261" cy="4502240"/>
          </a:xfrm>
          <a:prstGeom prst="rect">
            <a:avLst/>
          </a:prstGeom>
        </p:spPr>
      </p:pic>
      <p:sp>
        <p:nvSpPr>
          <p:cNvPr id="8" name="TextBox 7"/>
          <p:cNvSpPr txBox="1"/>
          <p:nvPr/>
        </p:nvSpPr>
        <p:spPr>
          <a:xfrm>
            <a:off x="4778544" y="1280160"/>
            <a:ext cx="7001671" cy="5166360"/>
          </a:xfrm>
          <a:prstGeom prst="rect">
            <a:avLst/>
          </a:prstGeom>
          <a:noFill/>
        </p:spPr>
        <p:txBody>
          <a:bodyPr wrap="square">
            <a:spAutoFit/>
          </a:bodyPr>
          <a:lstStyle/>
          <a:p>
            <a:pPr marL="320040" indent="-320040">
              <a:spcAft>
                <a:spcPts val="600"/>
              </a:spcAft>
            </a:pPr>
            <a:r>
              <a:rPr sz="1500" b="1">
                <a:solidFill>
                  <a:srgbClr val="B3781A"/>
                </a:solidFill>
                <a:latin typeface="Segoe UI"/>
              </a:rPr>
              <a:t>1.	</a:t>
            </a:r>
            <a:r>
              <a:rPr sz="1500" b="0">
                <a:solidFill>
                  <a:srgbClr val="3A2414"/>
                </a:solidFill>
                <a:latin typeface="Segoe UI"/>
              </a:rPr>
              <a:t>Website Admin sets up the event, sevas, capacity, deadlines and edit window</a:t>
            </a:r>
          </a:p>
          <a:p>
            <a:pPr marL="320040" indent="-320040">
              <a:spcAft>
                <a:spcPts val="600"/>
              </a:spcAft>
            </a:pPr>
            <a:r>
              <a:rPr sz="1500" b="1">
                <a:solidFill>
                  <a:srgbClr val="B3781A"/>
                </a:solidFill>
                <a:latin typeface="Segoe UI"/>
              </a:rPr>
              <a:t>2.	</a:t>
            </a:r>
            <a:r>
              <a:rPr sz="1500" b="0">
                <a:solidFill>
                  <a:srgbClr val="3A2414"/>
                </a:solidFill>
                <a:latin typeface="Segoe UI"/>
              </a:rPr>
              <a:t>Ticketing Admin sends invitations with a personal RSVP link (reminders if no answer)</a:t>
            </a:r>
          </a:p>
          <a:p>
            <a:pPr marL="320040" indent="-320040">
              <a:spcAft>
                <a:spcPts val="600"/>
              </a:spcAft>
            </a:pPr>
            <a:r>
              <a:rPr sz="1500" b="1">
                <a:solidFill>
                  <a:srgbClr val="B3781A"/>
                </a:solidFill>
                <a:latin typeface="Segoe UI"/>
              </a:rPr>
              <a:t>3.	</a:t>
            </a:r>
            <a:r>
              <a:rPr sz="1500" b="0">
                <a:solidFill>
                  <a:srgbClr val="3A2414"/>
                </a:solidFill>
                <a:latin typeface="Segoe UI"/>
              </a:rPr>
              <a:t>Decline: optional reason, thank-you email, end</a:t>
            </a:r>
          </a:p>
          <a:p>
            <a:pPr marL="320040" indent="-320040">
              <a:spcAft>
                <a:spcPts val="600"/>
              </a:spcAft>
            </a:pPr>
            <a:r>
              <a:rPr sz="1500" b="1">
                <a:solidFill>
                  <a:srgbClr val="B3781A"/>
                </a:solidFill>
                <a:latin typeface="Segoe UI"/>
              </a:rPr>
              <a:t>4.	</a:t>
            </a:r>
            <a:r>
              <a:rPr sz="1500" b="0">
                <a:solidFill>
                  <a:srgbClr val="3A2414"/>
                </a:solidFill>
                <a:latin typeface="Segoe UI"/>
              </a:rPr>
              <a:t>Accept: prefilled registration form - waitlist if full</a:t>
            </a:r>
          </a:p>
          <a:p>
            <a:pPr marL="320040" indent="-320040">
              <a:spcAft>
                <a:spcPts val="600"/>
              </a:spcAft>
            </a:pPr>
            <a:r>
              <a:rPr sz="1500" b="1">
                <a:solidFill>
                  <a:srgbClr val="B3781A"/>
                </a:solidFill>
                <a:latin typeface="Segoe UI"/>
              </a:rPr>
              <a:t>5.	</a:t>
            </a:r>
            <a:r>
              <a:rPr sz="1500" b="0">
                <a:solidFill>
                  <a:srgbClr val="3A2414"/>
                </a:solidFill>
                <a:latin typeface="Segoe UI"/>
              </a:rPr>
              <a:t>Free darshan is confirmed straight away; a seva needs payment by PayPal or bank transfer</a:t>
            </a:r>
          </a:p>
          <a:p>
            <a:pPr marL="320040" indent="-320040">
              <a:spcAft>
                <a:spcPts val="600"/>
              </a:spcAft>
            </a:pPr>
            <a:r>
              <a:rPr sz="1500" b="1">
                <a:solidFill>
                  <a:srgbClr val="B3781A"/>
                </a:solidFill>
                <a:latin typeface="Segoe UI"/>
              </a:rPr>
              <a:t>6.	</a:t>
            </a:r>
            <a:r>
              <a:rPr sz="1500" b="0">
                <a:solidFill>
                  <a:srgbClr val="3A2414"/>
                </a:solidFill>
                <a:latin typeface="Segoe UI"/>
              </a:rPr>
              <a:t>Confirmation email with QR code and a manage link</a:t>
            </a:r>
          </a:p>
          <a:p>
            <a:pPr marL="320040" indent="-320040">
              <a:spcAft>
                <a:spcPts val="600"/>
              </a:spcAft>
            </a:pPr>
            <a:r>
              <a:rPr sz="1500" b="1">
                <a:solidFill>
                  <a:srgbClr val="B3781A"/>
                </a:solidFill>
                <a:latin typeface="Segoe UI"/>
              </a:rPr>
              <a:t>7.	</a:t>
            </a:r>
            <a:r>
              <a:rPr sz="1500" b="0">
                <a:solidFill>
                  <a:srgbClr val="3A2414"/>
                </a:solidFill>
                <a:latin typeface="Segoe UI"/>
              </a:rPr>
              <a:t>Edits allowed only while the window is open (logged)</a:t>
            </a:r>
          </a:p>
          <a:p>
            <a:pPr marL="320040" indent="-320040">
              <a:spcAft>
                <a:spcPts val="600"/>
              </a:spcAft>
            </a:pPr>
            <a:r>
              <a:rPr sz="1500" b="1">
                <a:solidFill>
                  <a:srgbClr val="B3781A"/>
                </a:solidFill>
                <a:latin typeface="Segoe UI"/>
              </a:rPr>
              <a:t>8.	</a:t>
            </a:r>
            <a:r>
              <a:rPr sz="1500" b="0">
                <a:solidFill>
                  <a:srgbClr val="3A2414"/>
                </a:solidFill>
                <a:latin typeface="Segoe UI"/>
              </a:rPr>
              <a:t>Event day: Registrar scans the QR code, records the actual headcount and any desk sevas</a:t>
            </a:r>
          </a:p>
          <a:p>
            <a:pPr marL="320040" indent="-320040">
              <a:spcAft>
                <a:spcPts val="600"/>
              </a:spcAft>
            </a:pPr>
            <a:r>
              <a:rPr sz="1500" b="1">
                <a:solidFill>
                  <a:srgbClr val="B3781A"/>
                </a:solidFill>
                <a:latin typeface="Segoe UI"/>
              </a:rPr>
              <a:t>9.	</a:t>
            </a:r>
            <a:r>
              <a:rPr sz="1500" b="0">
                <a:solidFill>
                  <a:srgbClr val="3A2414"/>
                </a:solidFill>
                <a:latin typeface="Segoe UI"/>
              </a:rPr>
              <a:t>Analytics in Sheets + Looker Studio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Registration status lifecycle</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16</a:t>
            </a:r>
          </a:p>
        </p:txBody>
      </p:sp>
      <p:pic>
        <p:nvPicPr>
          <p:cNvPr id="10" name="Picture 6" descr="image.png"/>
          <p:cNvPicPr>
            <a:picLocks noChangeAspect="1"/>
          </p:cNvPicPr>
          <p:nvPr/>
        </p:nvPicPr>
        <p:blipFill>
          <a:blip r:embed="rId3"/>
          <a:stretch>
            <a:fillRect/>
          </a:stretch>
        </p:blipFill>
        <p:spPr>
          <a:xfrm>
            <a:off x="3903529" y="1188720"/>
            <a:ext cx="4384636" cy="5166358"/>
          </a:xfrm>
          <a:prstGeom prst="rect">
            <a:avLst/>
          </a:prstGeom>
        </p:spPr>
      </p:pic>
      <p:sp>
        <p:nvSpPr>
          <p:cNvPr id="8" name="TextBox 7"/>
          <p:cNvSpPr txBox="1"/>
          <p:nvPr/>
        </p:nvSpPr>
        <p:spPr>
          <a:xfrm>
            <a:off x="411480" y="6035040"/>
            <a:ext cx="11368735" cy="320040"/>
          </a:xfrm>
          <a:prstGeom prst="rect">
            <a:avLst/>
          </a:prstGeom>
          <a:noFill/>
        </p:spPr>
        <p:txBody>
          <a:bodyPr wrap="square" anchor="t">
            <a:spAutoFit/>
          </a:bodyPr>
          <a:lstStyle/>
          <a:p>
            <a:pPr algn="ctr"/>
            <a:r>
              <a:rPr sz="1200" b="0">
                <a:solidFill>
                  <a:srgbClr val="6F5C46"/>
                </a:solidFill>
                <a:latin typeface="Segoe UI"/>
              </a:rPr>
              <a:t>These states become the status values stored for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Payment flow - CURRENT (existing files)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17</a:t>
            </a:r>
          </a:p>
        </p:txBody>
      </p:sp>
      <p:pic>
        <p:nvPicPr>
          <p:cNvPr id="9" name="Picture 6" descr="image.png"/>
          <p:cNvPicPr>
            <a:picLocks noChangeAspect="1"/>
          </p:cNvPicPr>
          <p:nvPr/>
        </p:nvPicPr>
        <p:blipFill>
          <a:blip r:embed="rId3"/>
          <a:stretch>
            <a:fillRect/>
          </a:stretch>
        </p:blipFill>
        <p:spPr>
          <a:xfrm>
            <a:off x="3282667" y="1188720"/>
            <a:ext cx="5626360" cy="51322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Payment flow - PROPOSED</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18</a:t>
            </a:r>
          </a:p>
        </p:txBody>
      </p:sp>
      <p:pic>
        <p:nvPicPr>
          <p:cNvPr id="9" name="Picture 6" descr="image.png"/>
          <p:cNvPicPr>
            <a:picLocks noChangeAspect="1"/>
          </p:cNvPicPr>
          <p:nvPr/>
        </p:nvPicPr>
        <p:blipFill>
          <a:blip r:embed="rId3"/>
          <a:stretch>
            <a:fillRect/>
          </a:stretch>
        </p:blipFill>
        <p:spPr>
          <a:xfrm>
            <a:off x="2529588" y="1188720"/>
            <a:ext cx="7132518" cy="512516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Payment - main changes from today</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19</a:t>
            </a:r>
          </a:p>
        </p:txBody>
      </p:sp>
      <p:sp>
        <p:nvSpPr>
          <p:cNvPr id="7" name="TextBox 6"/>
          <p:cNvSpPr txBox="1"/>
          <p:nvPr/>
        </p:nvSpPr>
        <p:spPr>
          <a:xfrm>
            <a:off x="411480" y="1371600"/>
            <a:ext cx="11368735" cy="5166360"/>
          </a:xfrm>
          <a:prstGeom prst="rect">
            <a:avLst/>
          </a:prstGeom>
          <a:noFill/>
        </p:spPr>
        <p:txBody>
          <a:bodyPr wrap="square">
            <a:spAutoFit/>
          </a:bodyPr>
          <a:lstStyle/>
          <a:p>
            <a:pPr marL="320040" indent="-320040">
              <a:spcAft>
                <a:spcPts val="600"/>
              </a:spcAft>
            </a:pPr>
            <a:r>
              <a:rPr sz="2000" b="1">
                <a:solidFill>
                  <a:srgbClr val="B3781A"/>
                </a:solidFill>
                <a:latin typeface="Segoe UI"/>
              </a:rPr>
              <a:t>•	</a:t>
            </a:r>
            <a:r>
              <a:rPr sz="2000" b="0">
                <a:solidFill>
                  <a:srgbClr val="3A2414"/>
                </a:solidFill>
                <a:latin typeface="Segoe UI"/>
              </a:rPr>
              <a:t>Prices are calculated on the server. The Apps Script backend reads prices from the seva list, so totals can't be changed in the browser.</a:t>
            </a:r>
          </a:p>
          <a:p>
            <a:pPr marL="320040" indent="-320040">
              <a:spcAft>
                <a:spcPts val="600"/>
              </a:spcAft>
            </a:pPr>
            <a:r>
              <a:rPr sz="2000" b="1">
                <a:solidFill>
                  <a:srgbClr val="B3781A"/>
                </a:solidFill>
                <a:latin typeface="Segoe UI"/>
              </a:rPr>
              <a:t>•	</a:t>
            </a:r>
            <a:r>
              <a:rPr sz="2000" b="0">
                <a:solidFill>
                  <a:srgbClr val="3A2414"/>
                </a:solidFill>
                <a:latin typeface="Segoe UI"/>
              </a:rPr>
              <a:t>PayPal payments are checked automatically. Apps Script asks PayPal to confirm the amount and currency before marking a registration confirmed.</a:t>
            </a:r>
          </a:p>
          <a:p>
            <a:pPr marL="320040" indent="-320040">
              <a:spcAft>
                <a:spcPts val="600"/>
              </a:spcAft>
            </a:pPr>
            <a:r>
              <a:rPr sz="2000" b="1">
                <a:solidFill>
                  <a:srgbClr val="B3781A"/>
                </a:solidFill>
                <a:latin typeface="Segoe UI"/>
              </a:rPr>
              <a:t>•	</a:t>
            </a:r>
            <a:r>
              <a:rPr sz="2000" b="0">
                <a:solidFill>
                  <a:srgbClr val="3A2414"/>
                </a:solidFill>
                <a:latin typeface="Segoe UI"/>
              </a:rPr>
              <a:t>Bank transfers get a GiroCode that banking apps scan to fill in the details, so references are typed correctly.</a:t>
            </a:r>
          </a:p>
          <a:p>
            <a:pPr marL="320040" indent="-320040">
              <a:spcAft>
                <a:spcPts val="600"/>
              </a:spcAft>
            </a:pPr>
            <a:r>
              <a:rPr sz="2000" b="1">
                <a:solidFill>
                  <a:srgbClr val="B3781A"/>
                </a:solidFill>
                <a:latin typeface="Segoe UI"/>
              </a:rPr>
              <a:t>•	</a:t>
            </a:r>
            <a:r>
              <a:rPr sz="2000" b="0">
                <a:solidFill>
                  <a:srgbClr val="3A2414"/>
                </a:solidFill>
                <a:latin typeface="Segoe UI"/>
              </a:rPr>
              <a:t>Bank payments are matched from a CSV export instead of by eye.</a:t>
            </a:r>
          </a:p>
          <a:p>
            <a:pPr marL="320040" indent="-320040">
              <a:spcAft>
                <a:spcPts val="600"/>
              </a:spcAft>
            </a:pPr>
            <a:r>
              <a:rPr sz="2000" b="1">
                <a:solidFill>
                  <a:srgbClr val="B3781A"/>
                </a:solidFill>
                <a:latin typeface="Segoe UI"/>
              </a:rPr>
              <a:t>•	</a:t>
            </a:r>
            <a:r>
              <a:rPr sz="2000" b="0">
                <a:solidFill>
                  <a:srgbClr val="3A2414"/>
                </a:solidFill>
                <a:latin typeface="Segoe UI"/>
              </a:rPr>
              <a:t>Each payment gets its own record. This allows partial payments, extra payments after an edit, refunds and payments at the desk.</a:t>
            </a:r>
          </a:p>
          <a:p>
            <a:pPr marL="320040" indent="-320040">
              <a:spcAft>
                <a:spcPts val="600"/>
              </a:spcAft>
            </a:pPr>
            <a:r>
              <a:rPr sz="2000" b="1">
                <a:solidFill>
                  <a:srgbClr val="B3781A"/>
                </a:solidFill>
                <a:latin typeface="Segoe UI"/>
              </a:rPr>
              <a:t>•	</a:t>
            </a:r>
            <a:r>
              <a:rPr sz="2000" b="0">
                <a:solidFill>
                  <a:srgbClr val="3A2414"/>
                </a:solidFill>
                <a:latin typeface="Segoe UI"/>
              </a:rPr>
              <a:t>Payment deadline: reminder emails, then automatic cancellation and the place goes to the waitlist.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Editing during the admin-set window</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20</a:t>
            </a:r>
          </a:p>
        </p:txBody>
      </p:sp>
      <p:pic>
        <p:nvPicPr>
          <p:cNvPr id="10" name="Picture 6" descr="image.png"/>
          <p:cNvPicPr>
            <a:picLocks noChangeAspect="1"/>
          </p:cNvPicPr>
          <p:nvPr/>
        </p:nvPicPr>
        <p:blipFill>
          <a:blip r:embed="rId3"/>
          <a:stretch>
            <a:fillRect/>
          </a:stretch>
        </p:blipFill>
        <p:spPr>
          <a:xfrm>
            <a:off x="1949654" y="1188720"/>
            <a:ext cx="2608018" cy="4824680"/>
          </a:xfrm>
          <a:prstGeom prst="rect">
            <a:avLst/>
          </a:prstGeom>
        </p:spPr>
      </p:pic>
      <p:sp>
        <p:nvSpPr>
          <p:cNvPr id="8" name="TextBox 7"/>
          <p:cNvSpPr txBox="1"/>
          <p:nvPr/>
        </p:nvSpPr>
        <p:spPr>
          <a:xfrm>
            <a:off x="6370167" y="1280160"/>
            <a:ext cx="5410048" cy="5166360"/>
          </a:xfrm>
          <a:prstGeom prst="rect">
            <a:avLst/>
          </a:prstGeom>
          <a:noFill/>
        </p:spPr>
        <p:txBody>
          <a:bodyPr wrap="square">
            <a:spAutoFit/>
          </a:bodyPr>
          <a:lstStyle/>
          <a:p>
            <a:pPr marL="320040" indent="-320040">
              <a:spcAft>
                <a:spcPts val="600"/>
              </a:spcAft>
            </a:pPr>
            <a:r>
              <a:rPr sz="1700" b="1">
                <a:solidFill>
                  <a:srgbClr val="B3781A"/>
                </a:solidFill>
                <a:latin typeface="Segoe UI"/>
              </a:rPr>
              <a:t>•	</a:t>
            </a:r>
            <a:r>
              <a:rPr sz="1700" b="0">
                <a:solidFill>
                  <a:srgbClr val="3A2414"/>
                </a:solidFill>
                <a:latin typeface="Segoe UI"/>
              </a:rPr>
              <a:t>The edit link is a secret token sent in the email, so attendees don't need an account.</a:t>
            </a:r>
          </a:p>
          <a:p>
            <a:pPr marL="320040" indent="-320040">
              <a:spcAft>
                <a:spcPts val="600"/>
              </a:spcAft>
            </a:pPr>
            <a:r>
              <a:rPr sz="1700" b="1">
                <a:solidFill>
                  <a:srgbClr val="B3781A"/>
                </a:solidFill>
                <a:latin typeface="Segoe UI"/>
              </a:rPr>
              <a:t>•	</a:t>
            </a:r>
            <a:r>
              <a:rPr sz="1700" b="0">
                <a:solidFill>
                  <a:srgbClr val="3A2414"/>
                </a:solidFill>
                <a:latin typeface="Segoe UI"/>
              </a:rPr>
              <a:t>Apps Script checks the token, the edit window (set by the Website Admin) and how many edits are left before saving. That keeps the rule on the server, where users can't bypass it.</a:t>
            </a:r>
          </a:p>
          <a:p>
            <a:pPr marL="320040" indent="-320040">
              <a:spcAft>
                <a:spcPts val="600"/>
              </a:spcAft>
            </a:pPr>
            <a:r>
              <a:rPr sz="1700" b="1">
                <a:solidFill>
                  <a:srgbClr val="B3781A"/>
                </a:solidFill>
                <a:latin typeface="Segoe UI"/>
              </a:rPr>
              <a:t>•	</a:t>
            </a:r>
            <a:r>
              <a:rPr sz="1700" b="0">
                <a:solidFill>
                  <a:srgbClr val="3A2414"/>
                </a:solidFill>
                <a:latin typeface="Segoe UI"/>
              </a:rPr>
              <a:t>Every change is written to an audit log that records the old and new value, who made the change and when.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Registration desk - Registrar flow</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21</a:t>
            </a:r>
          </a:p>
        </p:txBody>
      </p:sp>
      <p:pic>
        <p:nvPicPr>
          <p:cNvPr id="9" name="Picture 6" descr="image.png"/>
          <p:cNvPicPr>
            <a:picLocks noChangeAspect="1"/>
          </p:cNvPicPr>
          <p:nvPr/>
        </p:nvPicPr>
        <p:blipFill>
          <a:blip r:embed="rId3"/>
          <a:stretch>
            <a:fillRect/>
          </a:stretch>
        </p:blipFill>
        <p:spPr>
          <a:xfrm>
            <a:off x="3117264" y="1188720"/>
            <a:ext cx="5957167" cy="50510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QR code logic</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22</a:t>
            </a:r>
          </a:p>
        </p:txBody>
      </p:sp>
      <p:graphicFrame>
        <p:nvGraphicFramePr>
          <p:cNvPr id="7" name="Table 6"/>
          <p:cNvGraphicFramePr>
            <a:graphicFrameLocks noGrp="1"/>
          </p:cNvGraphicFramePr>
          <p:nvPr/>
        </p:nvGraphicFramePr>
        <p:xfrm>
          <a:off x="411480" y="1188720"/>
          <a:ext cx="11368734" cy="2804160"/>
        </p:xfrm>
        <a:graphic>
          <a:graphicData uri="http://schemas.openxmlformats.org/drawingml/2006/table">
            <a:tbl>
              <a:tblPr firstRow="1" bandRow="1">
                <a:tableStyleId>{5C22544A-7EE6-4342-B048-85BDC9FD1C3A}</a:tableStyleId>
              </a:tblPr>
              <a:tblGrid>
                <a:gridCol w="2313990">
                  <a:extLst>
                    <a:ext uri="{9D8B030D-6E8A-4147-A177-3AD203B41FA5}">
                      <a16:colId xmlns:a16="http://schemas.microsoft.com/office/drawing/2014/main" val="20000"/>
                    </a:ext>
                  </a:extLst>
                </a:gridCol>
                <a:gridCol w="9054744">
                  <a:extLst>
                    <a:ext uri="{9D8B030D-6E8A-4147-A177-3AD203B41FA5}">
                      <a16:colId xmlns:a16="http://schemas.microsoft.com/office/drawing/2014/main" val="20001"/>
                    </a:ext>
                  </a:extLst>
                </a:gridCol>
              </a:tblGrid>
              <a:tr h="329184">
                <a:tc>
                  <a:txBody>
                    <a:bodyPr/>
                    <a:lstStyle/>
                    <a:p>
                      <a:r>
                        <a:rPr sz="1400" b="1">
                          <a:solidFill>
                            <a:srgbClr val="FFFFFF"/>
                          </a:solidFill>
                          <a:latin typeface="Segoe UI"/>
                        </a:rPr>
                        <a:t>Step</a:t>
                      </a:r>
                    </a:p>
                  </a:txBody>
                  <a:tcPr marL="73152" marR="73152" marT="36576" marB="36576" anchor="ctr">
                    <a:solidFill>
                      <a:srgbClr val="6D1F2C"/>
                    </a:solidFill>
                  </a:tcPr>
                </a:tc>
                <a:tc>
                  <a:txBody>
                    <a:bodyPr/>
                    <a:lstStyle/>
                    <a:p>
                      <a:r>
                        <a:rPr sz="1400" b="1">
                          <a:solidFill>
                            <a:srgbClr val="FFFFFF"/>
                          </a:solidFill>
                          <a:latin typeface="Segoe UI"/>
                        </a:rPr>
                        <a:t>Rule</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400" b="1">
                          <a:solidFill>
                            <a:srgbClr val="3A2414"/>
                          </a:solidFill>
                          <a:latin typeface="Segoe UI"/>
                        </a:rPr>
                        <a:t>Create</a:t>
                      </a:r>
                    </a:p>
                  </a:txBody>
                  <a:tcPr marL="73152" marR="73152" marT="36576" marB="36576" anchor="ctr">
                    <a:solidFill>
                      <a:srgbClr val="FFFFFF"/>
                    </a:solidFill>
                  </a:tcPr>
                </a:tc>
                <a:tc>
                  <a:txBody>
                    <a:bodyPr/>
                    <a:lstStyle/>
                    <a:p>
                      <a:r>
                        <a:rPr sz="1400" b="0">
                          <a:solidFill>
                            <a:srgbClr val="3A2414"/>
                          </a:solidFill>
                          <a:latin typeface="Segoe UI"/>
                        </a:rPr>
                        <a:t>Each registration gets a random, unguessable ID. The QR code holds only a link to checkin.html?t=&lt;that ID&gt;, with no personal data.</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400" b="1">
                          <a:solidFill>
                            <a:srgbClr val="3A2414"/>
                          </a:solidFill>
                          <a:latin typeface="Segoe UI"/>
                        </a:rPr>
                        <a:t>Show</a:t>
                      </a:r>
                    </a:p>
                  </a:txBody>
                  <a:tcPr marL="73152" marR="73152" marT="36576" marB="36576" anchor="ctr">
                    <a:solidFill>
                      <a:srgbClr val="F6EFE0"/>
                    </a:solidFill>
                  </a:tcPr>
                </a:tc>
                <a:tc>
                  <a:txBody>
                    <a:bodyPr/>
                    <a:lstStyle/>
                    <a:p>
                      <a:r>
                        <a:rPr sz="1400" b="0">
                          <a:solidFill>
                            <a:srgbClr val="3A2414"/>
                          </a:solidFill>
                          <a:latin typeface="Segoe UI"/>
                        </a:rPr>
                        <a:t>On screen using qrcode.min.js, and attached to the confirmation email.</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400" b="1">
                          <a:solidFill>
                            <a:srgbClr val="3A2414"/>
                          </a:solidFill>
                          <a:latin typeface="Segoe UI"/>
                        </a:rPr>
                        <a:t>Stability</a:t>
                      </a:r>
                    </a:p>
                  </a:txBody>
                  <a:tcPr marL="73152" marR="73152" marT="36576" marB="36576" anchor="ctr">
                    <a:solidFill>
                      <a:srgbClr val="FFFFFF"/>
                    </a:solidFill>
                  </a:tcPr>
                </a:tc>
                <a:tc>
                  <a:txBody>
                    <a:bodyPr/>
                    <a:lstStyle/>
                    <a:p>
                      <a:r>
                        <a:rPr sz="1400" b="0">
                          <a:solidFill>
                            <a:srgbClr val="3A2414"/>
                          </a:solidFill>
                          <a:latin typeface="Segoe UI"/>
                        </a:rPr>
                        <a:t>The code stays the same after edits. It is cancelled only if the registration is cancelled or a new code is issued.</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400" b="1">
                          <a:solidFill>
                            <a:srgbClr val="3A2414"/>
                          </a:solidFill>
                          <a:latin typeface="Segoe UI"/>
                        </a:rPr>
                        <a:t>Scan, not signed in</a:t>
                      </a:r>
                    </a:p>
                  </a:txBody>
                  <a:tcPr marL="73152" marR="73152" marT="36576" marB="36576" anchor="ctr">
                    <a:solidFill>
                      <a:srgbClr val="F6EFE0"/>
                    </a:solidFill>
                  </a:tcPr>
                </a:tc>
                <a:tc>
                  <a:txBody>
                    <a:bodyPr/>
                    <a:lstStyle/>
                    <a:p>
                      <a:r>
                        <a:rPr sz="1400" b="0">
                          <a:solidFill>
                            <a:srgbClr val="3A2414"/>
                          </a:solidFill>
                          <a:latin typeface="Segoe UI"/>
                        </a:rPr>
                        <a:t>Shows only "Show this at the entrance" – no data.</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400" b="1">
                          <a:solidFill>
                            <a:srgbClr val="3A2414"/>
                          </a:solidFill>
                          <a:latin typeface="Segoe UI"/>
                        </a:rPr>
                        <a:t>Scan, Registrar signed in</a:t>
                      </a:r>
                    </a:p>
                  </a:txBody>
                  <a:tcPr marL="73152" marR="73152" marT="36576" marB="36576" anchor="ctr">
                    <a:solidFill>
                      <a:srgbClr val="FFFFFF"/>
                    </a:solidFill>
                  </a:tcPr>
                </a:tc>
                <a:tc>
                  <a:txBody>
                    <a:bodyPr/>
                    <a:lstStyle/>
                    <a:p>
                      <a:r>
                        <a:rPr sz="1400" b="0">
                          <a:solidFill>
                            <a:srgbClr val="3A2414"/>
                          </a:solidFill>
                          <a:latin typeface="Segoe UI"/>
                        </a:rPr>
                        <a:t>Shows name, headcount, sevas and status, plus the check-in actions.</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400" b="1">
                          <a:solidFill>
                            <a:srgbClr val="3A2414"/>
                          </a:solidFill>
                          <a:latin typeface="Segoe UI"/>
                        </a:rPr>
                        <a:t>Second scan</a:t>
                      </a:r>
                    </a:p>
                  </a:txBody>
                  <a:tcPr marL="73152" marR="73152" marT="36576" marB="36576" anchor="ctr">
                    <a:solidFill>
                      <a:srgbClr val="F6EFE0"/>
                    </a:solidFill>
                  </a:tcPr>
                </a:tc>
                <a:tc>
                  <a:txBody>
                    <a:bodyPr/>
                    <a:lstStyle/>
                    <a:p>
                      <a:r>
                        <a:rPr sz="1400" b="0">
                          <a:solidFill>
                            <a:srgbClr val="3A2414"/>
                          </a:solidFill>
                          <a:latin typeface="Segoe UI"/>
                        </a:rPr>
                        <a:t>Shows a warning with the time and staff member of the first scan; a supervisor can override it.</a:t>
                      </a: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400" b="1">
                          <a:solidFill>
                            <a:srgbClr val="3A2414"/>
                          </a:solidFill>
                          <a:latin typeface="Segoe UI"/>
                        </a:rPr>
                        <a:t>No internet / no QR</a:t>
                      </a:r>
                    </a:p>
                  </a:txBody>
                  <a:tcPr marL="73152" marR="73152" marT="36576" marB="36576" anchor="ctr">
                    <a:solidFill>
                      <a:srgbClr val="FFFFFF"/>
                    </a:solidFill>
                  </a:tcPr>
                </a:tc>
                <a:tc>
                  <a:txBody>
                    <a:bodyPr/>
                    <a:lstStyle/>
                    <a:p>
                      <a:r>
                        <a:rPr sz="1400" b="0">
                          <a:solidFill>
                            <a:srgbClr val="3A2414"/>
                          </a:solidFill>
                          <a:latin typeface="Segoe UI"/>
                        </a:rPr>
                        <a:t>Search by name, phone or reference; a printable list for each desk as a backup.</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Waitlist</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23</a:t>
            </a:r>
          </a:p>
        </p:txBody>
      </p:sp>
      <p:pic>
        <p:nvPicPr>
          <p:cNvPr id="10" name="Picture 6" descr="image.png"/>
          <p:cNvPicPr>
            <a:picLocks noChangeAspect="1"/>
          </p:cNvPicPr>
          <p:nvPr/>
        </p:nvPicPr>
        <p:blipFill>
          <a:blip r:embed="rId3"/>
          <a:stretch>
            <a:fillRect/>
          </a:stretch>
        </p:blipFill>
        <p:spPr>
          <a:xfrm>
            <a:off x="1947251" y="1188720"/>
            <a:ext cx="2044387" cy="5166359"/>
          </a:xfrm>
          <a:prstGeom prst="rect">
            <a:avLst/>
          </a:prstGeom>
        </p:spPr>
      </p:pic>
      <p:sp>
        <p:nvSpPr>
          <p:cNvPr id="8" name="TextBox 7"/>
          <p:cNvSpPr txBox="1"/>
          <p:nvPr/>
        </p:nvSpPr>
        <p:spPr>
          <a:xfrm>
            <a:off x="5801730" y="1280160"/>
            <a:ext cx="5978485" cy="5166360"/>
          </a:xfrm>
          <a:prstGeom prst="rect">
            <a:avLst/>
          </a:prstGeom>
          <a:noFill/>
        </p:spPr>
        <p:txBody>
          <a:bodyPr wrap="square">
            <a:spAutoFit/>
          </a:bodyPr>
          <a:lstStyle/>
          <a:p>
            <a:pPr marL="320040" indent="-320040">
              <a:spcAft>
                <a:spcPts val="600"/>
              </a:spcAft>
            </a:pPr>
            <a:r>
              <a:rPr sz="1700" b="1">
                <a:solidFill>
                  <a:srgbClr val="B3781A"/>
                </a:solidFill>
                <a:latin typeface="Segoe UI"/>
              </a:rPr>
              <a:t>•	</a:t>
            </a:r>
            <a:r>
              <a:rPr sz="1700" b="0">
                <a:solidFill>
                  <a:srgbClr val="3A2414"/>
                </a:solidFill>
                <a:latin typeface="Segoe UI"/>
              </a:rPr>
              <a:t>A place frees up when someone cancels, declines or misses the payment deadline, or capacity goes up</a:t>
            </a:r>
          </a:p>
          <a:p>
            <a:pPr marL="320040" indent="-320040">
              <a:spcAft>
                <a:spcPts val="600"/>
              </a:spcAft>
            </a:pPr>
            <a:r>
              <a:rPr sz="1700" b="1">
                <a:solidFill>
                  <a:srgbClr val="B3781A"/>
                </a:solidFill>
                <a:latin typeface="Segoe UI"/>
              </a:rPr>
              <a:t>•	</a:t>
            </a:r>
            <a:r>
              <a:rPr sz="1700" b="0">
                <a:solidFill>
                  <a:srgbClr val="3A2414"/>
                </a:solidFill>
                <a:latin typeface="Segoe UI"/>
              </a:rPr>
              <a:t>Next person in the queue gets an offer email with a time limit</a:t>
            </a:r>
          </a:p>
          <a:p>
            <a:pPr marL="320040" indent="-320040">
              <a:spcAft>
                <a:spcPts val="600"/>
              </a:spcAft>
            </a:pPr>
            <a:r>
              <a:rPr sz="1700" b="1">
                <a:solidFill>
                  <a:srgbClr val="B3781A"/>
                </a:solidFill>
                <a:latin typeface="Segoe UI"/>
              </a:rPr>
              <a:t>•	</a:t>
            </a:r>
            <a:r>
              <a:rPr sz="1700" b="0">
                <a:solidFill>
                  <a:srgbClr val="3A2414"/>
                </a:solidFill>
                <a:latin typeface="Segoe UI"/>
              </a:rPr>
              <a:t>If they don't accept in time, the offer goes to the next person</a:t>
            </a:r>
          </a:p>
          <a:p>
            <a:pPr marL="320040" indent="-320040">
              <a:spcAft>
                <a:spcPts val="600"/>
              </a:spcAft>
            </a:pPr>
            <a:r>
              <a:rPr sz="1700" b="1">
                <a:solidFill>
                  <a:srgbClr val="B3781A"/>
                </a:solidFill>
                <a:latin typeface="Segoe UI"/>
              </a:rPr>
              <a:t>•	</a:t>
            </a:r>
            <a:r>
              <a:rPr sz="1700" b="0">
                <a:solidFill>
                  <a:srgbClr val="3A2414"/>
                </a:solidFill>
                <a:latin typeface="Segoe UI"/>
              </a:rPr>
              <a:t>People on the waitlist pay only after they get a place</a:t>
            </a:r>
          </a:p>
          <a:p>
            <a:pPr marL="320040" indent="-320040">
              <a:spcAft>
                <a:spcPts val="600"/>
              </a:spcAft>
            </a:pPr>
            <a:r>
              <a:rPr sz="1700" b="1">
                <a:solidFill>
                  <a:srgbClr val="B3781A"/>
                </a:solidFill>
                <a:latin typeface="Segoe UI"/>
              </a:rPr>
              <a:t>•	</a:t>
            </a:r>
            <a:r>
              <a:rPr sz="1700" b="0">
                <a:solidFill>
                  <a:srgbClr val="3A2414"/>
                </a:solidFill>
                <a:latin typeface="Segoe UI"/>
              </a:rPr>
              <a:t>Open: one waitlist per event or per seva? Priority rules?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TextBox 1"/>
          <p:cNvSpPr txBox="1"/>
          <p:nvPr/>
        </p:nvSpPr>
        <p:spPr>
          <a:xfrm>
            <a:off x="731520" y="2011680"/>
            <a:ext cx="2286000" cy="1828800"/>
          </a:xfrm>
          <a:prstGeom prst="rect">
            <a:avLst/>
          </a:prstGeom>
          <a:noFill/>
        </p:spPr>
        <p:txBody>
          <a:bodyPr wrap="square" anchor="t">
            <a:spAutoFit/>
          </a:bodyPr>
          <a:lstStyle/>
          <a:p>
            <a:pPr algn="l"/>
            <a:r>
              <a:rPr sz="9600" b="1">
                <a:solidFill>
                  <a:srgbClr val="B3781A"/>
                </a:solidFill>
                <a:latin typeface="Georgia"/>
              </a:rPr>
              <a:t>04</a:t>
            </a:r>
          </a:p>
        </p:txBody>
      </p:sp>
      <p:sp>
        <p:nvSpPr>
          <p:cNvPr id="3" name="TextBox 2"/>
          <p:cNvSpPr txBox="1"/>
          <p:nvPr/>
        </p:nvSpPr>
        <p:spPr>
          <a:xfrm>
            <a:off x="2926080" y="2377440"/>
            <a:ext cx="8686800" cy="1097280"/>
          </a:xfrm>
          <a:prstGeom prst="rect">
            <a:avLst/>
          </a:prstGeom>
          <a:noFill/>
        </p:spPr>
        <p:txBody>
          <a:bodyPr wrap="square" anchor="t">
            <a:spAutoFit/>
          </a:bodyPr>
          <a:lstStyle/>
          <a:p>
            <a:pPr algn="l"/>
            <a:r>
              <a:rPr sz="4000" b="1">
                <a:solidFill>
                  <a:srgbClr val="FFFFFF"/>
                </a:solidFill>
                <a:latin typeface="Georgia"/>
              </a:rPr>
              <a:t>Data and analytics</a:t>
            </a:r>
          </a:p>
        </p:txBody>
      </p:sp>
      <p:sp>
        <p:nvSpPr>
          <p:cNvPr id="4" name="TextBox 3"/>
          <p:cNvSpPr txBox="1"/>
          <p:nvPr/>
        </p:nvSpPr>
        <p:spPr>
          <a:xfrm>
            <a:off x="2926080" y="3474720"/>
            <a:ext cx="8686800" cy="914400"/>
          </a:xfrm>
          <a:prstGeom prst="rect">
            <a:avLst/>
          </a:prstGeom>
          <a:noFill/>
        </p:spPr>
        <p:txBody>
          <a:bodyPr wrap="square" anchor="t">
            <a:spAutoFit/>
          </a:bodyPr>
          <a:lstStyle/>
          <a:p>
            <a:pPr algn="l"/>
            <a:r>
              <a:rPr sz="1800" b="0">
                <a:solidFill>
                  <a:srgbClr val="DDC79A"/>
                </a:solidFill>
                <a:latin typeface="Segoe UI"/>
              </a:rPr>
              <a:t>Structured for analysis from day 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Data structure for analysis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25</a:t>
            </a:r>
          </a:p>
        </p:txBody>
      </p:sp>
      <p:pic>
        <p:nvPicPr>
          <p:cNvPr id="10" name="Picture 6" descr="image.png"/>
          <p:cNvPicPr>
            <a:picLocks noChangeAspect="1"/>
          </p:cNvPicPr>
          <p:nvPr/>
        </p:nvPicPr>
        <p:blipFill>
          <a:blip r:embed="rId3"/>
          <a:stretch>
            <a:fillRect/>
          </a:stretch>
        </p:blipFill>
        <p:spPr>
          <a:xfrm>
            <a:off x="1022412" y="1188720"/>
            <a:ext cx="3325630" cy="5079026"/>
          </a:xfrm>
          <a:prstGeom prst="rect">
            <a:avLst/>
          </a:prstGeom>
        </p:spPr>
      </p:pic>
      <p:sp>
        <p:nvSpPr>
          <p:cNvPr id="8" name="TextBox 7"/>
          <p:cNvSpPr txBox="1"/>
          <p:nvPr/>
        </p:nvSpPr>
        <p:spPr>
          <a:xfrm>
            <a:off x="5233294" y="1280160"/>
            <a:ext cx="6546921" cy="5166360"/>
          </a:xfrm>
          <a:prstGeom prst="rect">
            <a:avLst/>
          </a:prstGeom>
          <a:noFill/>
        </p:spPr>
        <p:txBody>
          <a:bodyPr wrap="square">
            <a:spAutoFit/>
          </a:bodyPr>
          <a:lstStyle/>
          <a:p>
            <a:pPr>
              <a:spcAft>
                <a:spcPts val="800"/>
              </a:spcAft>
            </a:pPr>
            <a:r>
              <a:rPr sz="1700" b="1">
                <a:solidFill>
                  <a:srgbClr val="6D1F2C"/>
                </a:solidFill>
                <a:latin typeface="Georgia"/>
              </a:rPr>
              <a:t>Metrics this makes possible</a:t>
            </a:r>
          </a:p>
          <a:p>
            <a:pPr marL="320040" indent="-320040">
              <a:spcAft>
                <a:spcPts val="600"/>
              </a:spcAft>
            </a:pPr>
            <a:r>
              <a:rPr sz="1500" b="1">
                <a:solidFill>
                  <a:srgbClr val="B3781A"/>
                </a:solidFill>
                <a:latin typeface="Segoe UI"/>
              </a:rPr>
              <a:t>•	</a:t>
            </a:r>
            <a:r>
              <a:rPr sz="1500" b="0">
                <a:solidFill>
                  <a:srgbClr val="3A2414"/>
                </a:solidFill>
                <a:latin typeface="Segoe UI"/>
              </a:rPr>
              <a:t>Funnel: invitation → RSVP → registration → payment → check-in</a:t>
            </a:r>
          </a:p>
          <a:p>
            <a:pPr marL="320040" indent="-320040">
              <a:spcAft>
                <a:spcPts val="600"/>
              </a:spcAft>
            </a:pPr>
            <a:r>
              <a:rPr sz="1500" b="1">
                <a:solidFill>
                  <a:srgbClr val="B3781A"/>
                </a:solidFill>
                <a:latin typeface="Segoe UI"/>
              </a:rPr>
              <a:t>•	</a:t>
            </a:r>
            <a:r>
              <a:rPr sz="1500" b="0">
                <a:solidFill>
                  <a:srgbClr val="3A2414"/>
                </a:solidFill>
                <a:latin typeface="Segoe UI"/>
              </a:rPr>
              <a:t>Decline reasons</a:t>
            </a:r>
          </a:p>
          <a:p>
            <a:pPr marL="320040" indent="-320040">
              <a:spcAft>
                <a:spcPts val="600"/>
              </a:spcAft>
            </a:pPr>
            <a:r>
              <a:rPr sz="1500" b="1">
                <a:solidFill>
                  <a:srgbClr val="B3781A"/>
                </a:solidFill>
                <a:latin typeface="Segoe UI"/>
              </a:rPr>
              <a:t>•	</a:t>
            </a:r>
            <a:r>
              <a:rPr sz="1500" b="0">
                <a:solidFill>
                  <a:srgbClr val="3A2414"/>
                </a:solidFill>
                <a:latin typeface="Segoe UI"/>
              </a:rPr>
              <a:t>Revenue by seva, by payment method, and online vs desk</a:t>
            </a:r>
          </a:p>
          <a:p>
            <a:pPr marL="320040" indent="-320040">
              <a:spcAft>
                <a:spcPts val="600"/>
              </a:spcAft>
            </a:pPr>
            <a:r>
              <a:rPr sz="1500" b="1">
                <a:solidFill>
                  <a:srgbClr val="B3781A"/>
                </a:solidFill>
                <a:latin typeface="Segoe UI"/>
              </a:rPr>
              <a:t>•	</a:t>
            </a:r>
            <a:r>
              <a:rPr sz="1500" b="0">
                <a:solidFill>
                  <a:srgbClr val="3A2414"/>
                </a:solidFill>
                <a:latin typeface="Segoe UI"/>
              </a:rPr>
              <a:t>Time from registration to payment</a:t>
            </a:r>
          </a:p>
          <a:p>
            <a:pPr marL="320040" indent="-320040">
              <a:spcAft>
                <a:spcPts val="600"/>
              </a:spcAft>
            </a:pPr>
            <a:r>
              <a:rPr sz="1500" b="1">
                <a:solidFill>
                  <a:srgbClr val="B3781A"/>
                </a:solidFill>
                <a:latin typeface="Segoe UI"/>
              </a:rPr>
              <a:t>•	</a:t>
            </a:r>
            <a:r>
              <a:rPr sz="1500" b="0">
                <a:solidFill>
                  <a:srgbClr val="3A2414"/>
                </a:solidFill>
                <a:latin typeface="Segoe UI"/>
              </a:rPr>
              <a:t>Registered vs actual headcount, and no-show rate</a:t>
            </a:r>
          </a:p>
          <a:p>
            <a:pPr marL="320040" indent="-320040">
              <a:spcAft>
                <a:spcPts val="600"/>
              </a:spcAft>
            </a:pPr>
            <a:r>
              <a:rPr sz="1500" b="1">
                <a:solidFill>
                  <a:srgbClr val="B3781A"/>
                </a:solidFill>
                <a:latin typeface="Segoe UI"/>
              </a:rPr>
              <a:t>•	</a:t>
            </a:r>
            <a:r>
              <a:rPr sz="1500" b="0">
                <a:solidFill>
                  <a:srgbClr val="3A2414"/>
                </a:solidFill>
                <a:latin typeface="Segoe UI"/>
              </a:rPr>
              <a:t>First-time vs repeat visitors</a:t>
            </a:r>
          </a:p>
          <a:p>
            <a:pPr marL="320040" indent="-320040">
              <a:spcAft>
                <a:spcPts val="600"/>
              </a:spcAft>
            </a:pPr>
            <a:r>
              <a:rPr sz="1500" b="1">
                <a:solidFill>
                  <a:srgbClr val="B3781A"/>
                </a:solidFill>
                <a:latin typeface="Segoe UI"/>
              </a:rPr>
              <a:t>•	</a:t>
            </a:r>
            <a:r>
              <a:rPr sz="1500" b="0">
                <a:solidFill>
                  <a:srgbClr val="3A2414"/>
                </a:solidFill>
                <a:latin typeface="Segoe UI"/>
              </a:rPr>
              <a:t>Where people come from, by postcode</a:t>
            </a:r>
          </a:p>
          <a:p>
            <a:pPr marL="320040" indent="-320040">
              <a:spcAft>
                <a:spcPts val="600"/>
              </a:spcAft>
            </a:pPr>
            <a:r>
              <a:rPr sz="1500" b="1">
                <a:solidFill>
                  <a:srgbClr val="B3781A"/>
                </a:solidFill>
                <a:latin typeface="Segoe UI"/>
              </a:rPr>
              <a:t>•	</a:t>
            </a:r>
            <a:r>
              <a:rPr sz="1500" b="0">
                <a:solidFill>
                  <a:srgbClr val="3A2414"/>
                </a:solidFill>
                <a:latin typeface="Segoe UI"/>
              </a:rPr>
              <a:t>Registrations over time</a:t>
            </a:r>
          </a:p>
          <a:p>
            <a:pPr marL="320040" indent="-320040">
              <a:spcAft>
                <a:spcPts val="600"/>
              </a:spcAft>
            </a:pPr>
            <a:r>
              <a:rPr sz="1500" b="1">
                <a:solidFill>
                  <a:srgbClr val="B3781A"/>
                </a:solidFill>
                <a:latin typeface="Segoe UI"/>
              </a:rPr>
              <a:t>•	</a:t>
            </a:r>
            <a:r>
              <a:rPr sz="1500" b="0">
                <a:solidFill>
                  <a:srgbClr val="3A2414"/>
                </a:solidFill>
                <a:latin typeface="Segoe UI"/>
              </a:rPr>
              <a:t>Waitlist conversion</a:t>
            </a:r>
          </a:p>
          <a:p>
            <a:pPr marL="320040" indent="-320040">
              <a:spcAft>
                <a:spcPts val="600"/>
              </a:spcAft>
            </a:pPr>
            <a:r>
              <a:rPr sz="1500" b="1">
                <a:solidFill>
                  <a:srgbClr val="B3781A"/>
                </a:solidFill>
                <a:latin typeface="Segoe UI"/>
              </a:rPr>
              <a:t>•	</a:t>
            </a:r>
            <a:r>
              <a:rPr sz="1500" b="0">
                <a:solidFill>
                  <a:srgbClr val="3A2414"/>
                </a:solidFill>
                <a:latin typeface="Segoe UI"/>
              </a:rPr>
              <a:t>Number of edits per registration</a:t>
            </a:r>
          </a:p>
          <a:p>
            <a:pPr marL="320040" indent="-320040">
              <a:spcAft>
                <a:spcPts val="600"/>
              </a:spcAft>
            </a:pPr>
            <a:r>
              <a:rPr sz="1500" b="1">
                <a:solidFill>
                  <a:srgbClr val="B3781A"/>
                </a:solidFill>
                <a:latin typeface="Segoe UI"/>
              </a:rPr>
              <a:t>•	</a:t>
            </a:r>
            <a:r>
              <a:rPr sz="1500" b="0">
                <a:solidFill>
                  <a:srgbClr val="3A2414"/>
                </a:solidFill>
                <a:latin typeface="Segoe UI"/>
              </a:rPr>
              <a:t>Pipeline: nightly Apps Script export, then Google Sheets, then Looker Studio (all free)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TextBox 1"/>
          <p:cNvSpPr txBox="1"/>
          <p:nvPr/>
        </p:nvSpPr>
        <p:spPr>
          <a:xfrm>
            <a:off x="731520" y="2011680"/>
            <a:ext cx="2286000" cy="1828800"/>
          </a:xfrm>
          <a:prstGeom prst="rect">
            <a:avLst/>
          </a:prstGeom>
          <a:noFill/>
        </p:spPr>
        <p:txBody>
          <a:bodyPr wrap="square" anchor="t">
            <a:spAutoFit/>
          </a:bodyPr>
          <a:lstStyle/>
          <a:p>
            <a:pPr algn="l"/>
            <a:r>
              <a:rPr sz="9600" b="1">
                <a:solidFill>
                  <a:srgbClr val="B3781A"/>
                </a:solidFill>
                <a:latin typeface="Georgia"/>
              </a:rPr>
              <a:t>05</a:t>
            </a:r>
          </a:p>
        </p:txBody>
      </p:sp>
      <p:sp>
        <p:nvSpPr>
          <p:cNvPr id="3" name="TextBox 2"/>
          <p:cNvSpPr txBox="1"/>
          <p:nvPr/>
        </p:nvSpPr>
        <p:spPr>
          <a:xfrm>
            <a:off x="2926080" y="2377440"/>
            <a:ext cx="8686800" cy="1097280"/>
          </a:xfrm>
          <a:prstGeom prst="rect">
            <a:avLst/>
          </a:prstGeom>
          <a:noFill/>
        </p:spPr>
        <p:txBody>
          <a:bodyPr wrap="square" anchor="t">
            <a:spAutoFit/>
          </a:bodyPr>
          <a:lstStyle/>
          <a:p>
            <a:pPr algn="l"/>
            <a:r>
              <a:rPr sz="4000" b="1">
                <a:solidFill>
                  <a:srgbClr val="FFFFFF"/>
                </a:solidFill>
                <a:latin typeface="Georgia"/>
              </a:rPr>
              <a:t>Roadmap</a:t>
            </a:r>
          </a:p>
        </p:txBody>
      </p:sp>
      <p:sp>
        <p:nvSpPr>
          <p:cNvPr id="4" name="TextBox 3"/>
          <p:cNvSpPr txBox="1"/>
          <p:nvPr/>
        </p:nvSpPr>
        <p:spPr>
          <a:xfrm>
            <a:off x="2926080" y="3474720"/>
            <a:ext cx="8686800" cy="914400"/>
          </a:xfrm>
          <a:prstGeom prst="rect">
            <a:avLst/>
          </a:prstGeom>
          <a:noFill/>
        </p:spPr>
        <p:txBody>
          <a:bodyPr wrap="square" anchor="t">
            <a:spAutoFit/>
          </a:bodyPr>
          <a:lstStyle/>
          <a:p>
            <a:pPr algn="l"/>
            <a:r>
              <a:rPr sz="1800" b="0">
                <a:solidFill>
                  <a:srgbClr val="DDC79A"/>
                </a:solidFill>
                <a:latin typeface="Segoe UI"/>
              </a:rPr>
              <a:t>Phases and dependencies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Roadmap - phases and dependencies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27</a:t>
            </a:r>
          </a:p>
        </p:txBody>
      </p:sp>
      <p:pic>
        <p:nvPicPr>
          <p:cNvPr id="9" name="Picture 6" descr="image.png"/>
          <p:cNvPicPr>
            <a:picLocks noChangeAspect="1"/>
          </p:cNvPicPr>
          <p:nvPr/>
        </p:nvPicPr>
        <p:blipFill>
          <a:blip r:embed="rId3"/>
          <a:stretch>
            <a:fillRect/>
          </a:stretch>
        </p:blipFill>
        <p:spPr>
          <a:xfrm>
            <a:off x="2119537" y="1188720"/>
            <a:ext cx="7952620" cy="51663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Roadmap - phase content</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28</a:t>
            </a:r>
          </a:p>
        </p:txBody>
      </p:sp>
      <p:graphicFrame>
        <p:nvGraphicFramePr>
          <p:cNvPr id="7" name="Table 6"/>
          <p:cNvGraphicFramePr>
            <a:graphicFrameLocks noGrp="1"/>
          </p:cNvGraphicFramePr>
          <p:nvPr/>
        </p:nvGraphicFramePr>
        <p:xfrm>
          <a:off x="411480" y="1188720"/>
          <a:ext cx="11368734" cy="3182112"/>
        </p:xfrm>
        <a:graphic>
          <a:graphicData uri="http://schemas.openxmlformats.org/drawingml/2006/table">
            <a:tbl>
              <a:tblPr firstRow="1" bandRow="1">
                <a:tableStyleId>{5C22544A-7EE6-4342-B048-85BDC9FD1C3A}</a:tableStyleId>
              </a:tblPr>
              <a:tblGrid>
                <a:gridCol w="2422845">
                  <a:extLst>
                    <a:ext uri="{9D8B030D-6E8A-4147-A177-3AD203B41FA5}">
                      <a16:colId xmlns:a16="http://schemas.microsoft.com/office/drawing/2014/main" val="20000"/>
                    </a:ext>
                  </a:extLst>
                </a:gridCol>
                <a:gridCol w="7454908">
                  <a:extLst>
                    <a:ext uri="{9D8B030D-6E8A-4147-A177-3AD203B41FA5}">
                      <a16:colId xmlns:a16="http://schemas.microsoft.com/office/drawing/2014/main" val="20001"/>
                    </a:ext>
                  </a:extLst>
                </a:gridCol>
                <a:gridCol w="1490981">
                  <a:extLst>
                    <a:ext uri="{9D8B030D-6E8A-4147-A177-3AD203B41FA5}">
                      <a16:colId xmlns:a16="http://schemas.microsoft.com/office/drawing/2014/main" val="20002"/>
                    </a:ext>
                  </a:extLst>
                </a:gridCol>
              </a:tblGrid>
              <a:tr h="329184">
                <a:tc>
                  <a:txBody>
                    <a:bodyPr/>
                    <a:lstStyle/>
                    <a:p>
                      <a:r>
                        <a:rPr sz="1200" b="1">
                          <a:solidFill>
                            <a:srgbClr val="FFFFFF"/>
                          </a:solidFill>
                          <a:latin typeface="Segoe UI"/>
                        </a:rPr>
                        <a:t>Phase</a:t>
                      </a:r>
                    </a:p>
                  </a:txBody>
                  <a:tcPr marL="73152" marR="73152" marT="36576" marB="36576" anchor="ctr">
                    <a:solidFill>
                      <a:srgbClr val="6D1F2C"/>
                    </a:solidFill>
                  </a:tcPr>
                </a:tc>
                <a:tc>
                  <a:txBody>
                    <a:bodyPr/>
                    <a:lstStyle/>
                    <a:p>
                      <a:r>
                        <a:rPr sz="1200" b="1">
                          <a:solidFill>
                            <a:srgbClr val="FFFFFF"/>
                          </a:solidFill>
                          <a:latin typeface="Segoe UI"/>
                        </a:rPr>
                        <a:t>Content</a:t>
                      </a:r>
                    </a:p>
                  </a:txBody>
                  <a:tcPr marL="73152" marR="73152" marT="36576" marB="36576" anchor="ctr">
                    <a:solidFill>
                      <a:srgbClr val="6D1F2C"/>
                    </a:solidFill>
                  </a:tcPr>
                </a:tc>
                <a:tc>
                  <a:txBody>
                    <a:bodyPr/>
                    <a:lstStyle/>
                    <a:p>
                      <a:r>
                        <a:rPr sz="1200" b="1">
                          <a:solidFill>
                            <a:srgbClr val="FFFFFF"/>
                          </a:solidFill>
                          <a:latin typeface="Segoe UI"/>
                        </a:rPr>
                        <a:t>Depends 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200" b="1">
                          <a:solidFill>
                            <a:srgbClr val="3A2414"/>
                          </a:solidFill>
                          <a:latin typeface="Segoe UI"/>
                        </a:rPr>
                        <a:t>P0 – Harden current version</a:t>
                      </a:r>
                    </a:p>
                  </a:txBody>
                  <a:tcPr marL="73152" marR="73152" marT="36576" marB="36576" anchor="ctr">
                    <a:solidFill>
                      <a:srgbClr val="FFFFFF"/>
                    </a:solidFill>
                  </a:tcPr>
                </a:tc>
                <a:tc>
                  <a:txBody>
                    <a:bodyPr/>
                    <a:lstStyle/>
                    <a:p>
                      <a:r>
                        <a:rPr sz="1200" b="0">
                          <a:solidFill>
                            <a:srgbClr val="3A2414"/>
                          </a:solidFill>
                          <a:latin typeface="Segoe UI"/>
                        </a:rPr>
                        <a:t>Random IDs; tighter rules so total, sevas and status must match and only staff can read registrations; wait for the save before showing success; fix the status label; move the admin email into a staff list</a:t>
                      </a:r>
                    </a:p>
                  </a:txBody>
                  <a:tcPr marL="73152" marR="73152" marT="36576" marB="36576" anchor="ctr">
                    <a:solidFill>
                      <a:srgbClr val="FFFFFF"/>
                    </a:solidFill>
                  </a:tcPr>
                </a:tc>
                <a:tc>
                  <a:txBody>
                    <a:bodyPr/>
                    <a:lstStyle/>
                    <a:p>
                      <a:r>
                        <a:rPr sz="1200" b="0">
                          <a:solidFill>
                            <a:srgbClr val="3A2414"/>
                          </a:solidFill>
                          <a:latin typeface="Segoe UI"/>
                        </a:rPr>
                        <a:t>— (do first)</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200" b="1">
                          <a:solidFill>
                            <a:srgbClr val="3A2414"/>
                          </a:solidFill>
                          <a:latin typeface="Segoe UI"/>
                        </a:rPr>
                        <a:t>P1 – Foundations</a:t>
                      </a:r>
                    </a:p>
                  </a:txBody>
                  <a:tcPr marL="73152" marR="73152" marT="36576" marB="36576" anchor="ctr">
                    <a:solidFill>
                      <a:srgbClr val="F6EFE0"/>
                    </a:solidFill>
                  </a:tcPr>
                </a:tc>
                <a:tc>
                  <a:txBody>
                    <a:bodyPr/>
                    <a:lstStyle/>
                    <a:p>
                      <a:r>
                        <a:rPr sz="1200" b="0">
                          <a:solidFill>
                            <a:srgbClr val="3A2414"/>
                          </a:solidFill>
                          <a:latin typeface="Segoe UI"/>
                        </a:rPr>
                        <a:t>events, sevas and staff collections; move SEVAS out of app.js; audit log; status timestamps; rules for each role</a:t>
                      </a:r>
                    </a:p>
                  </a:txBody>
                  <a:tcPr marL="73152" marR="73152" marT="36576" marB="36576" anchor="ctr">
                    <a:solidFill>
                      <a:srgbClr val="F6EFE0"/>
                    </a:solidFill>
                  </a:tcPr>
                </a:tc>
                <a:tc>
                  <a:txBody>
                    <a:bodyPr/>
                    <a:lstStyle/>
                    <a:p>
                      <a:r>
                        <a:rPr sz="1200" b="0">
                          <a:solidFill>
                            <a:srgbClr val="3A2414"/>
                          </a:solidFill>
                          <a:latin typeface="Segoe UI"/>
                        </a:rPr>
                        <a:t>P0</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200" b="1">
                          <a:solidFill>
                            <a:srgbClr val="3A2414"/>
                          </a:solidFill>
                          <a:latin typeface="Segoe UI"/>
                        </a:rPr>
                        <a:t>P2 – Invitations and RSVP</a:t>
                      </a:r>
                    </a:p>
                  </a:txBody>
                  <a:tcPr marL="73152" marR="73152" marT="36576" marB="36576" anchor="ctr">
                    <a:solidFill>
                      <a:srgbClr val="FFFFFF"/>
                    </a:solidFill>
                  </a:tcPr>
                </a:tc>
                <a:tc>
                  <a:txBody>
                    <a:bodyPr/>
                    <a:lstStyle/>
                    <a:p>
                      <a:r>
                        <a:rPr sz="1200" b="0">
                          <a:solidFill>
                            <a:srgbClr val="3A2414"/>
                          </a:solidFill>
                          <a:latin typeface="Segoe UI"/>
                        </a:rPr>
                        <a:t>Guest list in Google Sheets → Apps Script sends personal invitation emails → new rsvp.html; decline flow; reminders</a:t>
                      </a:r>
                    </a:p>
                  </a:txBody>
                  <a:tcPr marL="73152" marR="73152" marT="36576" marB="36576" anchor="ctr">
                    <a:solidFill>
                      <a:srgbClr val="FFFFFF"/>
                    </a:solidFill>
                  </a:tcPr>
                </a:tc>
                <a:tc>
                  <a:txBody>
                    <a:bodyPr/>
                    <a:lstStyle/>
                    <a:p>
                      <a:r>
                        <a:rPr sz="1200" b="0">
                          <a:solidFill>
                            <a:srgbClr val="3A2414"/>
                          </a:solidFill>
                          <a:latin typeface="Segoe UI"/>
                        </a:rPr>
                        <a:t>P1</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200" b="1">
                          <a:solidFill>
                            <a:srgbClr val="3A2414"/>
                          </a:solidFill>
                          <a:latin typeface="Segoe UI"/>
                        </a:rPr>
                        <a:t>P3 – Edit window</a:t>
                      </a:r>
                    </a:p>
                  </a:txBody>
                  <a:tcPr marL="73152" marR="73152" marT="36576" marB="36576" anchor="ctr">
                    <a:solidFill>
                      <a:srgbClr val="F6EFE0"/>
                    </a:solidFill>
                  </a:tcPr>
                </a:tc>
                <a:tc>
                  <a:txBody>
                    <a:bodyPr/>
                    <a:lstStyle/>
                    <a:p>
                      <a:r>
                        <a:rPr sz="1200" b="0">
                          <a:solidFill>
                            <a:srgbClr val="3A2414"/>
                          </a:solidFill>
                          <a:latin typeface="Segoe UI"/>
                        </a:rPr>
                        <a:t>New manage.html plus an Apps Script edit endpoint; window and edit limit checked on the server</a:t>
                      </a:r>
                    </a:p>
                  </a:txBody>
                  <a:tcPr marL="73152" marR="73152" marT="36576" marB="36576" anchor="ctr">
                    <a:solidFill>
                      <a:srgbClr val="F6EFE0"/>
                    </a:solidFill>
                  </a:tcPr>
                </a:tc>
                <a:tc>
                  <a:txBody>
                    <a:bodyPr/>
                    <a:lstStyle/>
                    <a:p>
                      <a:r>
                        <a:rPr sz="1200" b="0">
                          <a:solidFill>
                            <a:srgbClr val="3A2414"/>
                          </a:solidFill>
                          <a:latin typeface="Segoe UI"/>
                        </a:rPr>
                        <a:t>P1</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200" b="1">
                          <a:solidFill>
                            <a:srgbClr val="3A2414"/>
                          </a:solidFill>
                          <a:latin typeface="Segoe UI"/>
                        </a:rPr>
                        <a:t>P4 – Payments v2</a:t>
                      </a:r>
                    </a:p>
                  </a:txBody>
                  <a:tcPr marL="73152" marR="73152" marT="36576" marB="36576" anchor="ctr">
                    <a:solidFill>
                      <a:srgbClr val="FFFFFF"/>
                    </a:solidFill>
                  </a:tcPr>
                </a:tc>
                <a:tc>
                  <a:txBody>
                    <a:bodyPr/>
                    <a:lstStyle/>
                    <a:p>
                      <a:r>
                        <a:rPr sz="1200" b="0">
                          <a:solidFill>
                            <a:srgbClr val="3A2414"/>
                          </a:solidFill>
                          <a:latin typeface="Segoe UI"/>
                        </a:rPr>
                        <a:t>Payment records, GiroCode, verified PayPal checkout, bank CSV matching, deadlines and reminders</a:t>
                      </a:r>
                    </a:p>
                  </a:txBody>
                  <a:tcPr marL="73152" marR="73152" marT="36576" marB="36576" anchor="ctr">
                    <a:solidFill>
                      <a:srgbClr val="FFFFFF"/>
                    </a:solidFill>
                  </a:tcPr>
                </a:tc>
                <a:tc>
                  <a:txBody>
                    <a:bodyPr/>
                    <a:lstStyle/>
                    <a:p>
                      <a:r>
                        <a:rPr sz="1200" b="0">
                          <a:solidFill>
                            <a:srgbClr val="3A2414"/>
                          </a:solidFill>
                          <a:latin typeface="Segoe UI"/>
                        </a:rPr>
                        <a:t>P1</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200" b="1">
                          <a:solidFill>
                            <a:srgbClr val="3A2414"/>
                          </a:solidFill>
                          <a:latin typeface="Segoe UI"/>
                        </a:rPr>
                        <a:t>P5 – Registrar desk</a:t>
                      </a:r>
                    </a:p>
                  </a:txBody>
                  <a:tcPr marL="73152" marR="73152" marT="36576" marB="36576" anchor="ctr">
                    <a:solidFill>
                      <a:srgbClr val="F6EFE0"/>
                    </a:solidFill>
                  </a:tcPr>
                </a:tc>
                <a:tc>
                  <a:txBody>
                    <a:bodyPr/>
                    <a:lstStyle/>
                    <a:p>
                      <a:r>
                        <a:rPr sz="1200" b="0">
                          <a:solidFill>
                            <a:srgbClr val="3A2414"/>
                          </a:solidFill>
                          <a:latin typeface="Segoe UI"/>
                        </a:rPr>
                        <a:t>In-page scanner, check-in, actual headcount, desk sevas, walk-ins, cash summary</a:t>
                      </a:r>
                    </a:p>
                  </a:txBody>
                  <a:tcPr marL="73152" marR="73152" marT="36576" marB="36576" anchor="ctr">
                    <a:solidFill>
                      <a:srgbClr val="F6EFE0"/>
                    </a:solidFill>
                  </a:tcPr>
                </a:tc>
                <a:tc>
                  <a:txBody>
                    <a:bodyPr/>
                    <a:lstStyle/>
                    <a:p>
                      <a:r>
                        <a:rPr sz="1200" b="0">
                          <a:solidFill>
                            <a:srgbClr val="3A2414"/>
                          </a:solidFill>
                          <a:latin typeface="Segoe UI"/>
                        </a:rPr>
                        <a:t>P1, P4</a:t>
                      </a: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200" b="1">
                          <a:solidFill>
                            <a:srgbClr val="3A2414"/>
                          </a:solidFill>
                          <a:latin typeface="Segoe UI"/>
                        </a:rPr>
                        <a:t>P6 – Waitlist</a:t>
                      </a:r>
                    </a:p>
                  </a:txBody>
                  <a:tcPr marL="73152" marR="73152" marT="36576" marB="36576" anchor="ctr">
                    <a:solidFill>
                      <a:srgbClr val="FFFFFF"/>
                    </a:solidFill>
                  </a:tcPr>
                </a:tc>
                <a:tc>
                  <a:txBody>
                    <a:bodyPr/>
                    <a:lstStyle/>
                    <a:p>
                      <a:r>
                        <a:rPr sz="1200" b="0">
                          <a:solidFill>
                            <a:srgbClr val="3A2414"/>
                          </a:solidFill>
                          <a:latin typeface="Segoe UI"/>
                        </a:rPr>
                        <a:t>Queue, offers with a time limit, moving people up</a:t>
                      </a:r>
                    </a:p>
                  </a:txBody>
                  <a:tcPr marL="73152" marR="73152" marT="36576" marB="36576" anchor="ctr">
                    <a:solidFill>
                      <a:srgbClr val="FFFFFF"/>
                    </a:solidFill>
                  </a:tcPr>
                </a:tc>
                <a:tc>
                  <a:txBody>
                    <a:bodyPr/>
                    <a:lstStyle/>
                    <a:p>
                      <a:r>
                        <a:rPr sz="1200" b="0">
                          <a:solidFill>
                            <a:srgbClr val="3A2414"/>
                          </a:solidFill>
                          <a:latin typeface="Segoe UI"/>
                        </a:rPr>
                        <a:t>P1, P2, P4</a:t>
                      </a:r>
                    </a:p>
                  </a:txBody>
                  <a:tcPr marL="73152" marR="73152" marT="36576" marB="36576" anchor="ctr">
                    <a:solidFill>
                      <a:srgbClr val="FFFFFF"/>
                    </a:solidFill>
                  </a:tcPr>
                </a:tc>
                <a:extLst>
                  <a:ext uri="{0D108BD9-81ED-4DB2-BD59-A6C34878D82A}">
                    <a16:rowId xmlns:a16="http://schemas.microsoft.com/office/drawing/2014/main" val="10007"/>
                  </a:ext>
                </a:extLst>
              </a:tr>
              <a:tr h="329184">
                <a:tc>
                  <a:txBody>
                    <a:bodyPr/>
                    <a:lstStyle/>
                    <a:p>
                      <a:r>
                        <a:rPr sz="1200" b="1">
                          <a:solidFill>
                            <a:srgbClr val="3A2414"/>
                          </a:solidFill>
                          <a:latin typeface="Segoe UI"/>
                        </a:rPr>
                        <a:t>P7 – Analytics</a:t>
                      </a:r>
                    </a:p>
                  </a:txBody>
                  <a:tcPr marL="73152" marR="73152" marT="36576" marB="36576" anchor="ctr">
                    <a:solidFill>
                      <a:srgbClr val="F6EFE0"/>
                    </a:solidFill>
                  </a:tcPr>
                </a:tc>
                <a:tc>
                  <a:txBody>
                    <a:bodyPr/>
                    <a:lstStyle/>
                    <a:p>
                      <a:r>
                        <a:rPr sz="1200" b="0">
                          <a:solidFill>
                            <a:srgbClr val="3A2414"/>
                          </a:solidFill>
                          <a:latin typeface="Segoe UI"/>
                        </a:rPr>
                        <a:t>Sheets export and Looker Studio dashboards</a:t>
                      </a:r>
                    </a:p>
                  </a:txBody>
                  <a:tcPr marL="73152" marR="73152" marT="36576" marB="36576" anchor="ctr">
                    <a:solidFill>
                      <a:srgbClr val="F6EFE0"/>
                    </a:solidFill>
                  </a:tcPr>
                </a:tc>
                <a:tc>
                  <a:txBody>
                    <a:bodyPr/>
                    <a:lstStyle/>
                    <a:p>
                      <a:r>
                        <a:rPr sz="1200" b="0">
                          <a:solidFill>
                            <a:srgbClr val="3A2414"/>
                          </a:solidFill>
                          <a:latin typeface="Segoe UI"/>
                        </a:rPr>
                        <a:t>P1</a:t>
                      </a:r>
                    </a:p>
                  </a:txBody>
                  <a:tcPr marL="73152" marR="73152" marT="36576" marB="36576" anchor="ctr">
                    <a:solidFill>
                      <a:srgbClr val="F6EF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Files affected</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29</a:t>
            </a:r>
          </a:p>
        </p:txBody>
      </p:sp>
      <p:graphicFrame>
        <p:nvGraphicFramePr>
          <p:cNvPr id="7" name="Table 6"/>
          <p:cNvGraphicFramePr>
            <a:graphicFrameLocks noGrp="1"/>
          </p:cNvGraphicFramePr>
          <p:nvPr/>
        </p:nvGraphicFramePr>
        <p:xfrm>
          <a:off x="411480" y="1188720"/>
          <a:ext cx="11368734" cy="2804160"/>
        </p:xfrm>
        <a:graphic>
          <a:graphicData uri="http://schemas.openxmlformats.org/drawingml/2006/table">
            <a:tbl>
              <a:tblPr firstRow="1" bandRow="1">
                <a:tableStyleId>{5C22544A-7EE6-4342-B048-85BDC9FD1C3A}</a:tableStyleId>
              </a:tblPr>
              <a:tblGrid>
                <a:gridCol w="2981963">
                  <a:extLst>
                    <a:ext uri="{9D8B030D-6E8A-4147-A177-3AD203B41FA5}">
                      <a16:colId xmlns:a16="http://schemas.microsoft.com/office/drawing/2014/main" val="20000"/>
                    </a:ext>
                  </a:extLst>
                </a:gridCol>
                <a:gridCol w="8386771">
                  <a:extLst>
                    <a:ext uri="{9D8B030D-6E8A-4147-A177-3AD203B41FA5}">
                      <a16:colId xmlns:a16="http://schemas.microsoft.com/office/drawing/2014/main" val="20001"/>
                    </a:ext>
                  </a:extLst>
                </a:gridCol>
              </a:tblGrid>
              <a:tr h="329184">
                <a:tc>
                  <a:txBody>
                    <a:bodyPr/>
                    <a:lstStyle/>
                    <a:p>
                      <a:r>
                        <a:rPr sz="1400" b="1">
                          <a:solidFill>
                            <a:srgbClr val="FFFFFF"/>
                          </a:solidFill>
                          <a:latin typeface="Segoe UI"/>
                        </a:rPr>
                        <a:t>File</a:t>
                      </a:r>
                    </a:p>
                  </a:txBody>
                  <a:tcPr marL="73152" marR="73152" marT="36576" marB="36576" anchor="ctr">
                    <a:solidFill>
                      <a:srgbClr val="6D1F2C"/>
                    </a:solidFill>
                  </a:tcPr>
                </a:tc>
                <a:tc>
                  <a:txBody>
                    <a:bodyPr/>
                    <a:lstStyle/>
                    <a:p>
                      <a:r>
                        <a:rPr sz="1400" b="1">
                          <a:solidFill>
                            <a:srgbClr val="FFFFFF"/>
                          </a:solidFill>
                          <a:latin typeface="Segoe UI"/>
                        </a:rPr>
                        <a:t>Changes</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400" b="1">
                          <a:solidFill>
                            <a:srgbClr val="3A2414"/>
                          </a:solidFill>
                          <a:latin typeface="Segoe UI"/>
                        </a:rPr>
                        <a:t>app.js, index.html</a:t>
                      </a:r>
                    </a:p>
                  </a:txBody>
                  <a:tcPr marL="73152" marR="73152" marT="36576" marB="36576" anchor="ctr">
                    <a:solidFill>
                      <a:srgbClr val="FFFFFF"/>
                    </a:solidFill>
                  </a:tcPr>
                </a:tc>
                <a:tc>
                  <a:txBody>
                    <a:bodyPr/>
                    <a:lstStyle/>
                    <a:p>
                      <a:r>
                        <a:rPr sz="1400" b="0">
                          <a:solidFill>
                            <a:srgbClr val="3A2414"/>
                          </a:solidFill>
                          <a:latin typeface="Segoe UI"/>
                        </a:rPr>
                        <a:t>Random IDs, waiting for the save, prefilled form, GiroCode, new fields</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400" b="1">
                          <a:solidFill>
                            <a:srgbClr val="3A2414"/>
                          </a:solidFill>
                          <a:latin typeface="Segoe UI"/>
                        </a:rPr>
                        <a:t>admin.html, admin.js</a:t>
                      </a:r>
                    </a:p>
                  </a:txBody>
                  <a:tcPr marL="73152" marR="73152" marT="36576" marB="36576" anchor="ctr">
                    <a:solidFill>
                      <a:srgbClr val="F6EFE0"/>
                    </a:solidFill>
                  </a:tcPr>
                </a:tc>
                <a:tc>
                  <a:txBody>
                    <a:bodyPr/>
                    <a:lstStyle/>
                    <a:p>
                      <a:r>
                        <a:rPr sz="1400" b="0">
                          <a:solidFill>
                            <a:srgbClr val="3A2414"/>
                          </a:solidFill>
                          <a:latin typeface="Segoe UI"/>
                        </a:rPr>
                        <a:t>Tabs by role: Settings, Invitations, Payments, Waitlist, Analytics; bank CSV import</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400" b="1">
                          <a:solidFill>
                            <a:srgbClr val="3A2414"/>
                          </a:solidFill>
                          <a:latin typeface="Segoe UI"/>
                        </a:rPr>
                        <a:t>checkin.html, checkin.js</a:t>
                      </a:r>
                    </a:p>
                  </a:txBody>
                  <a:tcPr marL="73152" marR="73152" marT="36576" marB="36576" anchor="ctr">
                    <a:solidFill>
                      <a:srgbClr val="FFFFFF"/>
                    </a:solidFill>
                  </a:tcPr>
                </a:tc>
                <a:tc>
                  <a:txBody>
                    <a:bodyPr/>
                    <a:lstStyle/>
                    <a:p>
                      <a:r>
                        <a:rPr sz="1400" b="0">
                          <a:solidFill>
                            <a:srgbClr val="3A2414"/>
                          </a:solidFill>
                          <a:latin typeface="Segoe UI"/>
                        </a:rPr>
                        <a:t>Scanner, staff login, check-in actions, status labels</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400" b="1">
                          <a:solidFill>
                            <a:srgbClr val="3A2414"/>
                          </a:solidFill>
                          <a:latin typeface="Segoe UI"/>
                        </a:rPr>
                        <a:t>Code.gs</a:t>
                      </a:r>
                    </a:p>
                  </a:txBody>
                  <a:tcPr marL="73152" marR="73152" marT="36576" marB="36576" anchor="ctr">
                    <a:solidFill>
                      <a:srgbClr val="F6EFE0"/>
                    </a:solidFill>
                  </a:tcPr>
                </a:tc>
                <a:tc>
                  <a:txBody>
                    <a:bodyPr/>
                    <a:lstStyle/>
                    <a:p>
                      <a:r>
                        <a:rPr sz="1400" b="0">
                          <a:solidFill>
                            <a:srgbClr val="3A2414"/>
                          </a:solidFill>
                          <a:latin typeface="Segoe UI"/>
                        </a:rPr>
                        <a:t>Backend endpoints (create, verify payment, edit, invite, waitlist, export); secrets kept in Script Properties</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400" b="1">
                          <a:solidFill>
                            <a:srgbClr val="3A2414"/>
                          </a:solidFill>
                          <a:latin typeface="Segoe UI"/>
                        </a:rPr>
                        <a:t>firestore.rules</a:t>
                      </a:r>
                    </a:p>
                  </a:txBody>
                  <a:tcPr marL="73152" marR="73152" marT="36576" marB="36576" anchor="ctr">
                    <a:solidFill>
                      <a:srgbClr val="FFFFFF"/>
                    </a:solidFill>
                  </a:tcPr>
                </a:tc>
                <a:tc>
                  <a:txBody>
                    <a:bodyPr/>
                    <a:lstStyle/>
                    <a:p>
                      <a:r>
                        <a:rPr sz="1400" b="0">
                          <a:solidFill>
                            <a:srgbClr val="3A2414"/>
                          </a:solidFill>
                          <a:latin typeface="Segoe UI"/>
                        </a:rPr>
                        <a:t>Roles, time windows, data checks</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400" b="1">
                          <a:solidFill>
                            <a:srgbClr val="3A2414"/>
                          </a:solidFill>
                          <a:latin typeface="Segoe UI"/>
                        </a:rPr>
                        <a:t>New: rsvp.html, manage.html</a:t>
                      </a:r>
                    </a:p>
                  </a:txBody>
                  <a:tcPr marL="73152" marR="73152" marT="36576" marB="36576" anchor="ctr">
                    <a:solidFill>
                      <a:srgbClr val="F6EFE0"/>
                    </a:solidFill>
                  </a:tcPr>
                </a:tc>
                <a:tc>
                  <a:txBody>
                    <a:bodyPr/>
                    <a:lstStyle/>
                    <a:p>
                      <a:r>
                        <a:rPr sz="1400" b="0">
                          <a:solidFill>
                            <a:srgbClr val="3A2414"/>
                          </a:solidFill>
                          <a:latin typeface="Segoe UI"/>
                        </a:rPr>
                        <a:t>Each with its own JavaScript file</a:t>
                      </a: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400" b="1">
                          <a:solidFill>
                            <a:srgbClr val="3A2414"/>
                          </a:solidFill>
                          <a:latin typeface="Segoe UI"/>
                        </a:rPr>
                        <a:t>SETUP_INSTRUCTIONS.md, SITE_GUIDE.md</a:t>
                      </a:r>
                    </a:p>
                  </a:txBody>
                  <a:tcPr marL="73152" marR="73152" marT="36576" marB="36576" anchor="ctr">
                    <a:solidFill>
                      <a:srgbClr val="FFFFFF"/>
                    </a:solidFill>
                  </a:tcPr>
                </a:tc>
                <a:tc>
                  <a:txBody>
                    <a:bodyPr/>
                    <a:lstStyle/>
                    <a:p>
                      <a:r>
                        <a:rPr sz="1400" b="0">
                          <a:solidFill>
                            <a:srgbClr val="3A2414"/>
                          </a:solidFill>
                          <a:latin typeface="Segoe UI"/>
                        </a:rPr>
                        <a:t>Update to match</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6D1F2C"/>
        </a:solidFill>
        <a:effectLst/>
      </p:bgPr>
    </p:bg>
    <p:spTree>
      <p:nvGrpSpPr>
        <p:cNvPr id="1" name=""/>
        <p:cNvGrpSpPr/>
        <p:nvPr/>
      </p:nvGrpSpPr>
      <p:grpSpPr>
        <a:xfrm>
          <a:off x="0" y="0"/>
          <a:ext cx="0" cy="0"/>
          <a:chOff x="0" y="0"/>
          <a:chExt cx="0" cy="0"/>
        </a:xfrm>
      </p:grpSpPr>
      <p:sp>
        <p:nvSpPr>
          <p:cNvPr id="2" name="TextBox 1"/>
          <p:cNvSpPr txBox="1"/>
          <p:nvPr/>
        </p:nvSpPr>
        <p:spPr>
          <a:xfrm>
            <a:off x="731520" y="2011680"/>
            <a:ext cx="2286000" cy="1828800"/>
          </a:xfrm>
          <a:prstGeom prst="rect">
            <a:avLst/>
          </a:prstGeom>
          <a:noFill/>
        </p:spPr>
        <p:txBody>
          <a:bodyPr wrap="square" anchor="t">
            <a:spAutoFit/>
          </a:bodyPr>
          <a:lstStyle/>
          <a:p>
            <a:pPr algn="l"/>
            <a:r>
              <a:rPr sz="9600" b="1">
                <a:solidFill>
                  <a:srgbClr val="B3781A"/>
                </a:solidFill>
                <a:latin typeface="Georgia"/>
              </a:rPr>
              <a:t>06</a:t>
            </a:r>
          </a:p>
        </p:txBody>
      </p:sp>
      <p:sp>
        <p:nvSpPr>
          <p:cNvPr id="3" name="TextBox 2"/>
          <p:cNvSpPr txBox="1"/>
          <p:nvPr/>
        </p:nvSpPr>
        <p:spPr>
          <a:xfrm>
            <a:off x="2926080" y="2377440"/>
            <a:ext cx="8686800" cy="1097280"/>
          </a:xfrm>
          <a:prstGeom prst="rect">
            <a:avLst/>
          </a:prstGeom>
          <a:noFill/>
        </p:spPr>
        <p:txBody>
          <a:bodyPr wrap="square" anchor="t">
            <a:spAutoFit/>
          </a:bodyPr>
          <a:lstStyle/>
          <a:p>
            <a:pPr algn="l"/>
            <a:r>
              <a:rPr sz="4000" b="1">
                <a:solidFill>
                  <a:srgbClr val="FFFFFF"/>
                </a:solidFill>
                <a:latin typeface="Georgia"/>
              </a:rPr>
              <a:t>Open questions</a:t>
            </a:r>
          </a:p>
        </p:txBody>
      </p:sp>
      <p:sp>
        <p:nvSpPr>
          <p:cNvPr id="4" name="TextBox 3"/>
          <p:cNvSpPr txBox="1"/>
          <p:nvPr/>
        </p:nvSpPr>
        <p:spPr>
          <a:xfrm>
            <a:off x="2926080" y="3474720"/>
            <a:ext cx="8686800" cy="914400"/>
          </a:xfrm>
          <a:prstGeom prst="rect">
            <a:avLst/>
          </a:prstGeom>
          <a:noFill/>
        </p:spPr>
        <p:txBody>
          <a:bodyPr wrap="square" anchor="t">
            <a:spAutoFit/>
          </a:bodyPr>
          <a:lstStyle/>
          <a:p>
            <a:pPr algn="l"/>
            <a:r>
              <a:rPr sz="1800" b="0">
                <a:solidFill>
                  <a:srgbClr val="DDC79A"/>
                </a:solidFill>
                <a:latin typeface="Segoe UI"/>
              </a:rPr>
              <a:t>Business rules to decide in the meeting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What comes after what?</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31</a:t>
            </a:r>
          </a:p>
        </p:txBody>
      </p:sp>
      <p:graphicFrame>
        <p:nvGraphicFramePr>
          <p:cNvPr id="7" name="Table 6"/>
          <p:cNvGraphicFramePr>
            <a:graphicFrameLocks noGrp="1"/>
          </p:cNvGraphicFramePr>
          <p:nvPr/>
        </p:nvGraphicFramePr>
        <p:xfrm>
          <a:off x="411480" y="1188720"/>
          <a:ext cx="11368733" cy="2535936"/>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Invite-only event, public link, or both?</a:t>
                      </a:r>
                    </a:p>
                  </a:txBody>
                  <a:tcPr marL="73152" marR="73152" marT="36576" marB="36576" anchor="ctr">
                    <a:solidFill>
                      <a:srgbClr val="FFFFFF"/>
                    </a:solidFill>
                  </a:tcPr>
                </a:tc>
                <a:tc>
                  <a:txBody>
                    <a:bodyPr/>
                    <a:lstStyle/>
                    <a:p>
                      <a:r>
                        <a:rPr sz="1300" b="0">
                          <a:solidFill>
                            <a:srgbClr val="3A2414"/>
                          </a:solidFill>
                          <a:latin typeface="Segoe UI"/>
                        </a:rPr>
                        <a:t>Both, with a switch for the public link</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Is RSVP a separate step before registration?</a:t>
                      </a:r>
                    </a:p>
                  </a:txBody>
                  <a:tcPr marL="73152" marR="73152" marT="36576" marB="36576" anchor="ctr">
                    <a:solidFill>
                      <a:srgbClr val="F6EFE0"/>
                    </a:solidFill>
                  </a:tcPr>
                </a:tc>
                <a:tc>
                  <a:txBody>
                    <a:bodyPr/>
                    <a:lstStyle/>
                    <a:p>
                      <a:r>
                        <a:rPr sz="1300" b="0">
                          <a:solidFill>
                            <a:srgbClr val="3A2414"/>
                          </a:solidFill>
                          <a:latin typeface="Segoe UI"/>
                        </a:rPr>
                        <a:t>No – "Yes" opens a prefilled registration form</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When is the QR code issued – on registration or after payment?</a:t>
                      </a:r>
                    </a:p>
                  </a:txBody>
                  <a:tcPr marL="73152" marR="73152" marT="36576" marB="36576" anchor="ctr">
                    <a:solidFill>
                      <a:srgbClr val="FFFFFF"/>
                    </a:solidFill>
                  </a:tcPr>
                </a:tc>
                <a:tc>
                  <a:txBody>
                    <a:bodyPr/>
                    <a:lstStyle/>
                    <a:p>
                      <a:r>
                        <a:rPr sz="1300" b="0">
                          <a:solidFill>
                            <a:srgbClr val="3A2414"/>
                          </a:solidFill>
                          <a:latin typeface="Segoe UI"/>
                        </a:rPr>
                        <a:t>After confirmation; pending registrations get only a reference</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Registration open and close dates?</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Payment deadline – fixed date or relative?</a:t>
                      </a:r>
                    </a:p>
                  </a:txBody>
                  <a:tcPr marL="73152" marR="73152" marT="36576" marB="36576" anchor="ctr">
                    <a:solidFill>
                      <a:srgbClr val="FFFFFF"/>
                    </a:solidFill>
                  </a:tcPr>
                </a:tc>
                <a:tc>
                  <a:txBody>
                    <a:bodyPr/>
                    <a:lstStyle/>
                    <a:p>
                      <a:r>
                        <a:rPr sz="1300" b="0">
                          <a:solidFill>
                            <a:srgbClr val="3A2414"/>
                          </a:solidFill>
                          <a:latin typeface="Segoe UI"/>
                        </a:rPr>
                        <a:t>7 days after registering</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Can someone sponsor a seva without attending?</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General attendee flow</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32</a:t>
            </a:r>
          </a:p>
        </p:txBody>
      </p:sp>
      <p:graphicFrame>
        <p:nvGraphicFramePr>
          <p:cNvPr id="7" name="Table 6"/>
          <p:cNvGraphicFramePr>
            <a:graphicFrameLocks noGrp="1"/>
          </p:cNvGraphicFramePr>
          <p:nvPr/>
        </p:nvGraphicFramePr>
        <p:xfrm>
          <a:off x="411480" y="1188720"/>
          <a:ext cx="11368733" cy="2535936"/>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Do we need the full postal address?</a:t>
                      </a:r>
                    </a:p>
                  </a:txBody>
                  <a:tcPr marL="73152" marR="73152" marT="36576" marB="36576" anchor="ctr">
                    <a:solidFill>
                      <a:srgbClr val="FFFFFF"/>
                    </a:solidFill>
                  </a:tcPr>
                </a:tc>
                <a:tc>
                  <a:txBody>
                    <a:bodyPr/>
                    <a:lstStyle/>
                    <a:p>
                      <a:r>
                        <a:rPr sz="1300" b="0">
                          <a:solidFill>
                            <a:srgbClr val="3A2414"/>
                          </a:solidFill>
                          <a:latin typeface="Segoe UI"/>
                        </a:rPr>
                        <a:t>Only if donation receipts are issued; otherwise postcode and city</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Should participants be split into adults and children?</a:t>
                      </a:r>
                    </a:p>
                  </a:txBody>
                  <a:tcPr marL="73152" marR="73152" marT="36576" marB="36576" anchor="ctr">
                    <a:solidFill>
                      <a:srgbClr val="F6EFE0"/>
                    </a:solidFill>
                  </a:tcPr>
                </a:tc>
                <a:tc>
                  <a:txBody>
                    <a:bodyPr/>
                    <a:lstStyle/>
                    <a:p>
                      <a:r>
                        <a:rPr sz="1300" b="0">
                          <a:solidFill>
                            <a:srgbClr val="3A2414"/>
                          </a:solidFill>
                          <a:latin typeface="Segoe UI"/>
                        </a:rPr>
                        <a:t>Yes, for analysis and catering</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Do we need the name of every participant?</a:t>
                      </a:r>
                    </a:p>
                  </a:txBody>
                  <a:tcPr marL="73152" marR="73152" marT="36576" marB="36576" anchor="ctr">
                    <a:solidFill>
                      <a:srgbClr val="FFFFFF"/>
                    </a:solidFill>
                  </a:tcPr>
                </a:tc>
                <a:tc>
                  <a:txBody>
                    <a:bodyPr/>
                    <a:lstStyle/>
                    <a:p>
                      <a:r>
                        <a:rPr sz="1300" b="0">
                          <a:solidFill>
                            <a:srgbClr val="3A2414"/>
                          </a:solidFill>
                          <a:latin typeface="Segoe UI"/>
                        </a:rPr>
                        <a:t>No</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One registration per email address?</a:t>
                      </a:r>
                    </a:p>
                  </a:txBody>
                  <a:tcPr marL="73152" marR="73152" marT="36576" marB="36576" anchor="ctr">
                    <a:solidFill>
                      <a:srgbClr val="F6EFE0"/>
                    </a:solidFill>
                  </a:tcPr>
                </a:tc>
                <a:tc>
                  <a:txBody>
                    <a:bodyPr/>
                    <a:lstStyle/>
                    <a:p>
                      <a:r>
                        <a:rPr sz="1300" b="0">
                          <a:solidFill>
                            <a:srgbClr val="3A2414"/>
                          </a:solidFill>
                          <a:latin typeface="Segoe UI"/>
                        </a:rPr>
                        <a:t>Yes; duplicates are flagged to the Ticketing Admin</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Which languages?</a:t>
                      </a:r>
                    </a:p>
                  </a:txBody>
                  <a:tcPr marL="73152" marR="73152" marT="36576" marB="36576" anchor="ctr">
                    <a:solidFill>
                      <a:srgbClr val="FFFFFF"/>
                    </a:solidFill>
                  </a:tcPr>
                </a:tc>
                <a:tc>
                  <a:txBody>
                    <a:bodyPr/>
                    <a:lstStyle/>
                    <a:p>
                      <a:r>
                        <a:rPr sz="1300" b="0">
                          <a:solidFill>
                            <a:srgbClr val="3A2414"/>
                          </a:solidFill>
                          <a:latin typeface="Segoe UI"/>
                        </a:rPr>
                        <a:t>English first; Kannada and German later</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Accounts for attendees?</a:t>
                      </a:r>
                    </a:p>
                  </a:txBody>
                  <a:tcPr marL="73152" marR="73152" marT="36576" marB="36576" anchor="ctr">
                    <a:solidFill>
                      <a:srgbClr val="F6EFE0"/>
                    </a:solidFill>
                  </a:tcPr>
                </a:tc>
                <a:tc>
                  <a:txBody>
                    <a:bodyPr/>
                    <a:lstStyle/>
                    <a:p>
                      <a:r>
                        <a:rPr sz="1300" b="0">
                          <a:solidFill>
                            <a:srgbClr val="3A2414"/>
                          </a:solidFill>
                          <a:latin typeface="Segoe UI"/>
                        </a:rPr>
                        <a:t>No – the secret link in the email is enough</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Attendee with a seva</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33</a:t>
            </a:r>
          </a:p>
        </p:txBody>
      </p:sp>
      <p:graphicFrame>
        <p:nvGraphicFramePr>
          <p:cNvPr id="7" name="Table 6"/>
          <p:cNvGraphicFramePr>
            <a:graphicFrameLocks noGrp="1"/>
          </p:cNvGraphicFramePr>
          <p:nvPr/>
        </p:nvGraphicFramePr>
        <p:xfrm>
          <a:off x="411480" y="1188720"/>
          <a:ext cx="11368733" cy="2657856"/>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Does each seva have limited places or time slots?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Is the price per family or per person?</a:t>
                      </a:r>
                    </a:p>
                  </a:txBody>
                  <a:tcPr marL="73152" marR="73152" marT="36576" marB="36576" anchor="ctr">
                    <a:solidFill>
                      <a:srgbClr val="F6EFE0"/>
                    </a:solidFill>
                  </a:tcPr>
                </a:tc>
                <a:tc>
                  <a:txBody>
                    <a:bodyPr/>
                    <a:lstStyle/>
                    <a:p>
                      <a:r>
                        <a:rPr sz="1300" b="0">
                          <a:solidFill>
                            <a:srgbClr val="3A2414"/>
                          </a:solidFill>
                          <a:latin typeface="Segoe UI"/>
                        </a:rPr>
                        <a:t>Per registration (family)</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Partial payment, or pay at the venue?</a:t>
                      </a:r>
                    </a:p>
                  </a:txBody>
                  <a:tcPr marL="73152" marR="73152" marT="36576" marB="36576" anchor="ctr">
                    <a:solidFill>
                      <a:srgbClr val="FFFFFF"/>
                    </a:solidFill>
                  </a:tcPr>
                </a:tc>
                <a:tc>
                  <a:txBody>
                    <a:bodyPr/>
                    <a:lstStyle/>
                    <a:p>
                      <a:r>
                        <a:rPr sz="1300" b="0">
                          <a:solidFill>
                            <a:srgbClr val="3A2414"/>
                          </a:solidFill>
                          <a:latin typeface="Segoe UI"/>
                        </a:rPr>
                        <a:t>Pay at the venue only if the Ticketing Admin allows it</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Refund policy if the attendee or the organisers cancel?</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What if the payment received is too low or too high?</a:t>
                      </a:r>
                    </a:p>
                  </a:txBody>
                  <a:tcPr marL="73152" marR="73152" marT="36576" marB="36576" anchor="ctr">
                    <a:solidFill>
                      <a:srgbClr val="FFFFFF"/>
                    </a:solidFill>
                  </a:tcPr>
                </a:tc>
                <a:tc>
                  <a:txBody>
                    <a:bodyPr/>
                    <a:lstStyle/>
                    <a:p>
                      <a:r>
                        <a:rPr sz="1300" b="0">
                          <a:solidFill>
                            <a:srgbClr val="3A2414"/>
                          </a:solidFill>
                          <a:latin typeface="Segoe UI"/>
                        </a:rPr>
                        <a:t>Too low → status stays pending; too high → treat as a donation, with the attendee's agreement</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Do we issue official donation receipts (Zuwendungsbestätigung)? Who issues them?</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Attendee with a free darshan</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34</a:t>
            </a:r>
          </a:p>
        </p:txBody>
      </p:sp>
      <p:graphicFrame>
        <p:nvGraphicFramePr>
          <p:cNvPr id="7" name="Table 6"/>
          <p:cNvGraphicFramePr>
            <a:graphicFrameLocks noGrp="1"/>
          </p:cNvGraphicFramePr>
          <p:nvPr/>
        </p:nvGraphicFramePr>
        <p:xfrm>
          <a:off x="411480" y="1188720"/>
          <a:ext cx="11368733" cy="1840992"/>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Is free darshan capacity-limited, or split into time slots?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Confirm straight away (as today), or reconfirm closer to the date?</a:t>
                      </a:r>
                    </a:p>
                  </a:txBody>
                  <a:tcPr marL="73152" marR="73152" marT="36576" marB="36576" anchor="ctr">
                    <a:solidFill>
                      <a:srgbClr val="F6EFE0"/>
                    </a:solidFill>
                  </a:tcPr>
                </a:tc>
                <a:tc>
                  <a:txBody>
                    <a:bodyPr/>
                    <a:lstStyle/>
                    <a:p>
                      <a:r>
                        <a:rPr sz="1300" b="0">
                          <a:solidFill>
                            <a:srgbClr val="3A2414"/>
                          </a:solidFill>
                          <a:latin typeface="Segoe UI"/>
                        </a:rPr>
                        <a:t>Straight away, plus a reminder email a few days before</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Add an optional voluntary donation field?</a:t>
                      </a:r>
                    </a:p>
                  </a:txBody>
                  <a:tcPr marL="73152" marR="73152" marT="36576" marB="36576" anchor="ctr">
                    <a:solidFill>
                      <a:srgbClr val="FFFFFF"/>
                    </a:solidFill>
                  </a:tcPr>
                </a:tc>
                <a:tc>
                  <a:txBody>
                    <a:bodyPr/>
                    <a:lstStyle/>
                    <a:p>
                      <a:r>
                        <a:rPr sz="1300" b="0">
                          <a:solidFill>
                            <a:srgbClr val="3A2414"/>
                          </a:solidFill>
                          <a:latin typeface="Segoe UI"/>
                        </a:rPr>
                        <a:t>Yes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Can a free-darshan attendee add a seva later?</a:t>
                      </a:r>
                    </a:p>
                  </a:txBody>
                  <a:tcPr marL="73152" marR="73152" marT="36576" marB="36576" anchor="ctr">
                    <a:solidFill>
                      <a:srgbClr val="F6EFE0"/>
                    </a:solidFill>
                  </a:tcPr>
                </a:tc>
                <a:tc>
                  <a:txBody>
                    <a:bodyPr/>
                    <a:lstStyle/>
                    <a:p>
                      <a:r>
                        <a:rPr sz="1300" b="0">
                          <a:solidFill>
                            <a:srgbClr val="3A2414"/>
                          </a:solidFill>
                          <a:latin typeface="Segoe UI"/>
                        </a:rPr>
                        <a:t>Yes – online during the edit window, or at the desk</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Attendees who decline the RSVP</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35</a:t>
            </a:r>
          </a:p>
        </p:txBody>
      </p:sp>
      <p:graphicFrame>
        <p:nvGraphicFramePr>
          <p:cNvPr id="7" name="Table 6"/>
          <p:cNvGraphicFramePr>
            <a:graphicFrameLocks noGrp="1"/>
          </p:cNvGraphicFramePr>
          <p:nvPr/>
        </p:nvGraphicFramePr>
        <p:xfrm>
          <a:off x="411480" y="1188720"/>
          <a:ext cx="11368733" cy="2535936"/>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Ask for a reason?</a:t>
                      </a:r>
                    </a:p>
                  </a:txBody>
                  <a:tcPr marL="73152" marR="73152" marT="36576" marB="36576" anchor="ctr">
                    <a:solidFill>
                      <a:srgbClr val="FFFFFF"/>
                    </a:solidFill>
                  </a:tcPr>
                </a:tc>
                <a:tc>
                  <a:txBody>
                    <a:bodyPr/>
                    <a:lstStyle/>
                    <a:p>
                      <a:r>
                        <a:rPr sz="1300" b="0">
                          <a:solidFill>
                            <a:srgbClr val="3A2414"/>
                          </a:solidFill>
                          <a:latin typeface="Segoe UI"/>
                        </a:rPr>
                        <a:t>Optional, from a short list</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Offer to keep them informed about future events?</a:t>
                      </a:r>
                    </a:p>
                  </a:txBody>
                  <a:tcPr marL="73152" marR="73152" marT="36576" marB="36576" anchor="ctr">
                    <a:solidFill>
                      <a:srgbClr val="F6EFE0"/>
                    </a:solidFill>
                  </a:tcPr>
                </a:tc>
                <a:tc>
                  <a:txBody>
                    <a:bodyPr/>
                    <a:lstStyle/>
                    <a:p>
                      <a:r>
                        <a:rPr sz="1300" b="0">
                          <a:solidFill>
                            <a:srgbClr val="3A2414"/>
                          </a:solidFill>
                          <a:latin typeface="Segoe UI"/>
                        </a:rPr>
                        <a:t>Yes, as a separate opt-in</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Can they change their mind later?</a:t>
                      </a:r>
                    </a:p>
                  </a:txBody>
                  <a:tcPr marL="73152" marR="73152" marT="36576" marB="36576" anchor="ctr">
                    <a:solidFill>
                      <a:srgbClr val="FFFFFF"/>
                    </a:solidFill>
                  </a:tcPr>
                </a:tc>
                <a:tc>
                  <a:txBody>
                    <a:bodyPr/>
                    <a:lstStyle/>
                    <a:p>
                      <a:r>
                        <a:rPr sz="1300" b="0">
                          <a:solidFill>
                            <a:srgbClr val="3A2414"/>
                          </a:solidFill>
                          <a:latin typeface="Segoe UI"/>
                        </a:rPr>
                        <a:t>Yes, until registration closes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Does declining release a reserved place?</a:t>
                      </a:r>
                    </a:p>
                  </a:txBody>
                  <a:tcPr marL="73152" marR="73152" marT="36576" marB="36576" anchor="ctr">
                    <a:solidFill>
                      <a:srgbClr val="F6EFE0"/>
                    </a:solidFill>
                  </a:tcPr>
                </a:tc>
                <a:tc>
                  <a:txBody>
                    <a:bodyPr/>
                    <a:lstStyle/>
                    <a:p>
                      <a:r>
                        <a:rPr sz="1300" b="0">
                          <a:solidFill>
                            <a:srgbClr val="3A2414"/>
                          </a:solidFill>
                          <a:latin typeface="Segoe UI"/>
                        </a:rPr>
                        <a:t>Yes</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How long do we keep their data?</a:t>
                      </a:r>
                    </a:p>
                  </a:txBody>
                  <a:tcPr marL="73152" marR="73152" marT="36576" marB="36576" anchor="ctr">
                    <a:solidFill>
                      <a:srgbClr val="FFFFFF"/>
                    </a:solidFill>
                  </a:tcPr>
                </a:tc>
                <a:tc>
                  <a:txBody>
                    <a:bodyPr/>
                    <a:lstStyle/>
                    <a:p>
                      <a:r>
                        <a:rPr sz="1300" b="0">
                          <a:solidFill>
                            <a:srgbClr val="3A2414"/>
                          </a:solidFill>
                          <a:latin typeface="Segoe UI"/>
                        </a:rPr>
                        <a:t>Delete after the event</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How many reminders for people who don't answer, and when?</a:t>
                      </a:r>
                    </a:p>
                  </a:txBody>
                  <a:tcPr marL="73152" marR="73152" marT="36576" marB="36576" anchor="ctr">
                    <a:solidFill>
                      <a:srgbClr val="F6EFE0"/>
                    </a:solidFill>
                  </a:tcPr>
                </a:tc>
                <a:tc>
                  <a:txBody>
                    <a:bodyPr/>
                    <a:lstStyle/>
                    <a:p>
                      <a:r>
                        <a:rPr sz="1300" b="0">
                          <a:solidFill>
                            <a:srgbClr val="3A2414"/>
                          </a:solidFill>
                          <a:latin typeface="Segoe UI"/>
                        </a:rPr>
                        <a:t>2 reminders, 7 and 3 days before the deadline</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Waitlist</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36</a:t>
            </a:r>
          </a:p>
        </p:txBody>
      </p:sp>
      <p:graphicFrame>
        <p:nvGraphicFramePr>
          <p:cNvPr id="7" name="Table 6"/>
          <p:cNvGraphicFramePr>
            <a:graphicFrameLocks noGrp="1"/>
          </p:cNvGraphicFramePr>
          <p:nvPr/>
        </p:nvGraphicFramePr>
        <p:xfrm>
          <a:off x="411480" y="1188720"/>
          <a:ext cx="11368733" cy="2188464"/>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One waitlist for the whole event, or one per seva?</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Order – first come first served, or priority (members, first-time visitors)?</a:t>
                      </a:r>
                    </a:p>
                  </a:txBody>
                  <a:tcPr marL="73152" marR="73152" marT="36576" marB="36576" anchor="ctr">
                    <a:solidFill>
                      <a:srgbClr val="F6EFE0"/>
                    </a:solidFill>
                  </a:tcPr>
                </a:tc>
                <a:tc>
                  <a:txBody>
                    <a:bodyPr/>
                    <a:lstStyle/>
                    <a:p>
                      <a:r>
                        <a:rPr sz="1300" b="0">
                          <a:solidFill>
                            <a:srgbClr val="3A2414"/>
                          </a:solidFill>
                          <a:latin typeface="Segoe UI"/>
                        </a:rPr>
                        <a:t>First come, first served</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Move people up automatically, or with admin approval?</a:t>
                      </a:r>
                    </a:p>
                  </a:txBody>
                  <a:tcPr marL="73152" marR="73152" marT="36576" marB="36576" anchor="ctr">
                    <a:solidFill>
                      <a:srgbClr val="FFFFFF"/>
                    </a:solidFill>
                  </a:tcPr>
                </a:tc>
                <a:tc>
                  <a:txBody>
                    <a:bodyPr/>
                    <a:lstStyle/>
                    <a:p>
                      <a:r>
                        <a:rPr sz="1300" b="0">
                          <a:solidFill>
                            <a:srgbClr val="3A2414"/>
                          </a:solidFill>
                          <a:latin typeface="Segoe UI"/>
                        </a:rPr>
                        <a:t>Automatically, with the Ticketing Admin informed</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How long does an offer stay open?</a:t>
                      </a:r>
                    </a:p>
                  </a:txBody>
                  <a:tcPr marL="73152" marR="73152" marT="36576" marB="36576" anchor="ctr">
                    <a:solidFill>
                      <a:srgbClr val="F6EFE0"/>
                    </a:solidFill>
                  </a:tcPr>
                </a:tc>
                <a:tc>
                  <a:txBody>
                    <a:bodyPr/>
                    <a:lstStyle/>
                    <a:p>
                      <a:r>
                        <a:rPr sz="1300" b="0">
                          <a:solidFill>
                            <a:srgbClr val="3A2414"/>
                          </a:solidFill>
                          <a:latin typeface="Segoe UI"/>
                        </a:rPr>
                        <a:t>48 hours</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Do people on the waitlist pay up front?</a:t>
                      </a:r>
                    </a:p>
                  </a:txBody>
                  <a:tcPr marL="73152" marR="73152" marT="36576" marB="36576" anchor="ctr">
                    <a:solidFill>
                      <a:srgbClr val="FFFFFF"/>
                    </a:solidFill>
                  </a:tcPr>
                </a:tc>
                <a:tc>
                  <a:txBody>
                    <a:bodyPr/>
                    <a:lstStyle/>
                    <a:p>
                      <a:r>
                        <a:rPr sz="1300" b="0">
                          <a:solidFill>
                            <a:srgbClr val="3A2414"/>
                          </a:solidFill>
                          <a:latin typeface="Segoe UI"/>
                        </a:rPr>
                        <a:t>No – only after they get a place</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Admin flow</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37</a:t>
            </a:r>
          </a:p>
        </p:txBody>
      </p:sp>
      <p:graphicFrame>
        <p:nvGraphicFramePr>
          <p:cNvPr id="7" name="Table 6"/>
          <p:cNvGraphicFramePr>
            <a:graphicFrameLocks noGrp="1"/>
          </p:cNvGraphicFramePr>
          <p:nvPr/>
        </p:nvGraphicFramePr>
        <p:xfrm>
          <a:off x="411480" y="1188720"/>
          <a:ext cx="11368733" cy="2761488"/>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Who holds each role (names, how many)?</a:t>
                      </a:r>
                    </a:p>
                  </a:txBody>
                  <a:tcPr marL="73152" marR="73152" marT="36576" marB="36576" anchor="ctr">
                    <a:solidFill>
                      <a:srgbClr val="FFFFFF"/>
                    </a:solidFill>
                  </a:tcPr>
                </a:tc>
                <a:tc>
                  <a:txBody>
                    <a:bodyPr/>
                    <a:lstStyle/>
                    <a:p>
                      <a:r>
                        <a:rPr sz="1300" b="0">
                          <a:solidFill>
                            <a:srgbClr val="3A2414"/>
                          </a:solidFill>
                          <a:latin typeface="Segoe UI"/>
                        </a:rPr>
                        <a:t>1 Website Admin, 2 Ticketing Admins, several Registrars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Can one person hold more than one role?</a:t>
                      </a:r>
                    </a:p>
                  </a:txBody>
                  <a:tcPr marL="73152" marR="73152" marT="36576" marB="36576" anchor="ctr">
                    <a:solidFill>
                      <a:srgbClr val="F6EFE0"/>
                    </a:solidFill>
                  </a:tcPr>
                </a:tc>
                <a:tc>
                  <a:txBody>
                    <a:bodyPr/>
                    <a:lstStyle/>
                    <a:p>
                      <a:r>
                        <a:rPr sz="1300" b="0">
                          <a:solidFill>
                            <a:srgbClr val="3A2414"/>
                          </a:solidFill>
                          <a:latin typeface="Segoe UI"/>
                        </a:rPr>
                        <a:t>Yes, except Website Admin + Ticketing Admin</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Should a second person confirm "Mark as paid"?</a:t>
                      </a:r>
                    </a:p>
                  </a:txBody>
                  <a:tcPr marL="73152" marR="73152" marT="36576" marB="36576" anchor="ctr">
                    <a:solidFill>
                      <a:srgbClr val="FFFFFF"/>
                    </a:solidFill>
                  </a:tcPr>
                </a:tc>
                <a:tc>
                  <a:txBody>
                    <a:bodyPr/>
                    <a:lstStyle/>
                    <a:p>
                      <a:r>
                        <a:rPr sz="1300" b="0">
                          <a:solidFill>
                            <a:srgbClr val="3A2414"/>
                          </a:solidFill>
                          <a:latin typeface="Segoe UI"/>
                        </a:rPr>
                        <a:t>Only above an amount threshold</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Can admins edit personal data?</a:t>
                      </a:r>
                    </a:p>
                  </a:txBody>
                  <a:tcPr marL="73152" marR="73152" marT="36576" marB="36576" anchor="ctr">
                    <a:solidFill>
                      <a:srgbClr val="F6EFE0"/>
                    </a:solidFill>
                  </a:tcPr>
                </a:tc>
                <a:tc>
                  <a:txBody>
                    <a:bodyPr/>
                    <a:lstStyle/>
                    <a:p>
                      <a:r>
                        <a:rPr sz="1300" b="0">
                          <a:solidFill>
                            <a:srgbClr val="3A2414"/>
                          </a:solidFill>
                          <a:latin typeface="Segoe UI"/>
                        </a:rPr>
                        <a:t>Yes, recorded in the audit log</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Who approves refunds?</a:t>
                      </a:r>
                    </a:p>
                  </a:txBody>
                  <a:tcPr marL="73152" marR="73152" marT="36576" marB="36576" anchor="ctr">
                    <a:solidFill>
                      <a:srgbClr val="FFFFFF"/>
                    </a:solidFill>
                  </a:tcPr>
                </a:tc>
                <a:tc>
                  <a:txBody>
                    <a:bodyPr/>
                    <a:lstStyle/>
                    <a:p>
                      <a:r>
                        <a:rPr sz="1300" b="0">
                          <a:solidFill>
                            <a:srgbClr val="3A2414"/>
                          </a:solidFill>
                          <a:latin typeface="Segoe UI"/>
                        </a:rPr>
                        <a:t>Ticketing Admin plus the treasurer</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Who may export personal data?</a:t>
                      </a:r>
                    </a:p>
                  </a:txBody>
                  <a:tcPr marL="73152" marR="73152" marT="36576" marB="36576" anchor="ctr">
                    <a:solidFill>
                      <a:srgbClr val="F6EFE0"/>
                    </a:solidFill>
                  </a:tcPr>
                </a:tc>
                <a:tc>
                  <a:txBody>
                    <a:bodyPr/>
                    <a:lstStyle/>
                    <a:p>
                      <a:r>
                        <a:rPr sz="1300" b="0">
                          <a:solidFill>
                            <a:srgbClr val="3A2414"/>
                          </a:solidFill>
                          <a:latin typeface="Segoe UI"/>
                        </a:rPr>
                        <a:t>Website Admin only</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300" b="1">
                          <a:solidFill>
                            <a:srgbClr val="3A2414"/>
                          </a:solidFill>
                          <a:latin typeface="Segoe UI"/>
                        </a:rPr>
                        <a:t>Who controls the edit window?</a:t>
                      </a:r>
                    </a:p>
                  </a:txBody>
                  <a:tcPr marL="73152" marR="73152" marT="36576" marB="36576" anchor="ctr">
                    <a:solidFill>
                      <a:srgbClr val="FFFFFF"/>
                    </a:solidFill>
                  </a:tcPr>
                </a:tc>
                <a:tc>
                  <a:txBody>
                    <a:bodyPr/>
                    <a:lstStyle/>
                    <a:p>
                      <a:r>
                        <a:rPr sz="1300" b="0">
                          <a:solidFill>
                            <a:srgbClr val="3A2414"/>
                          </a:solidFill>
                          <a:latin typeface="Segoe UI"/>
                        </a:rPr>
                        <a:t>Website Admin</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Registrar at the desk</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38</a:t>
            </a:r>
          </a:p>
        </p:txBody>
      </p:sp>
      <p:graphicFrame>
        <p:nvGraphicFramePr>
          <p:cNvPr id="7" name="Table 6"/>
          <p:cNvGraphicFramePr>
            <a:graphicFrameLocks noGrp="1"/>
          </p:cNvGraphicFramePr>
          <p:nvPr/>
        </p:nvGraphicFramePr>
        <p:xfrm>
          <a:off x="411480" y="1188720"/>
          <a:ext cx="11368733" cy="3352800"/>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How many desks and devices? Volunteers' own phones or provided tablets?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Is there internet at the venue (Wi-Fi or mobile data)?</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Can registrars see phone numbers?</a:t>
                      </a:r>
                    </a:p>
                  </a:txBody>
                  <a:tcPr marL="73152" marR="73152" marT="36576" marB="36576" anchor="ctr">
                    <a:solidFill>
                      <a:srgbClr val="FFFFFF"/>
                    </a:solidFill>
                  </a:tcPr>
                </a:tc>
                <a:tc>
                  <a:txBody>
                    <a:bodyPr/>
                    <a:lstStyle/>
                    <a:p>
                      <a:r>
                        <a:rPr sz="1300" b="0">
                          <a:solidFill>
                            <a:srgbClr val="3A2414"/>
                          </a:solidFill>
                          <a:latin typeface="Segoe UI"/>
                        </a:rPr>
                        <a:t>No – name, headcount, sevas and status only</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More people arrive than registered – allowed? Charged? Checked against capacity?</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Payment at the desk – cash only, or cards too?</a:t>
                      </a:r>
                    </a:p>
                  </a:txBody>
                  <a:tcPr marL="73152" marR="73152" marT="36576" marB="36576" anchor="ctr">
                    <a:solidFill>
                      <a:srgbClr val="FFFFFF"/>
                    </a:solidFill>
                  </a:tcPr>
                </a:tc>
                <a:tc>
                  <a:txBody>
                    <a:bodyPr/>
                    <a:lstStyle/>
                    <a:p>
                      <a:r>
                        <a:rPr sz="1300" b="0">
                          <a:solidFill>
                            <a:srgbClr val="3A2414"/>
                          </a:solidFill>
                          <a:latin typeface="Segoe UI"/>
                        </a:rPr>
                        <a:t>Cash only for now</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Who counts and reconciles the cash at the end of the day?</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300" b="1">
                          <a:solidFill>
                            <a:srgbClr val="3A2414"/>
                          </a:solidFill>
                          <a:latin typeface="Segoe UI"/>
                        </a:rPr>
                        <a:t>Allow walk-ins without a registration?</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7"/>
                  </a:ext>
                </a:extLst>
              </a:tr>
              <a:tr h="329184">
                <a:tc>
                  <a:txBody>
                    <a:bodyPr/>
                    <a:lstStyle/>
                    <a:p>
                      <a:r>
                        <a:rPr sz="1300" b="1">
                          <a:solidFill>
                            <a:srgbClr val="3A2414"/>
                          </a:solidFill>
                          <a:latin typeface="Segoe UI"/>
                        </a:rPr>
                        <a:t>Can a family check in in two groups?</a:t>
                      </a:r>
                    </a:p>
                  </a:txBody>
                  <a:tcPr marL="73152" marR="73152" marT="36576" marB="36576" anchor="ctr">
                    <a:solidFill>
                      <a:srgbClr val="F6EFE0"/>
                    </a:solidFill>
                  </a:tcPr>
                </a:tc>
                <a:tc>
                  <a:txBody>
                    <a:bodyPr/>
                    <a:lstStyle/>
                    <a:p>
                      <a:r>
                        <a:rPr sz="1300" b="0">
                          <a:solidFill>
                            <a:srgbClr val="3A2414"/>
                          </a:solidFill>
                          <a:latin typeface="Segoe UI"/>
                        </a:rPr>
                        <a:t>Yes – headcount can be added to</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QR code generation</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39</a:t>
            </a:r>
          </a:p>
        </p:txBody>
      </p:sp>
      <p:graphicFrame>
        <p:nvGraphicFramePr>
          <p:cNvPr id="7" name="Table 6"/>
          <p:cNvGraphicFramePr>
            <a:graphicFrameLocks noGrp="1"/>
          </p:cNvGraphicFramePr>
          <p:nvPr/>
        </p:nvGraphicFramePr>
        <p:xfrm>
          <a:off x="411480" y="1188720"/>
          <a:ext cx="11368733" cy="2535936"/>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One code per registration (family) or one per person?</a:t>
                      </a:r>
                    </a:p>
                  </a:txBody>
                  <a:tcPr marL="73152" marR="73152" marT="36576" marB="36576" anchor="ctr">
                    <a:solidFill>
                      <a:srgbClr val="FFFFFF"/>
                    </a:solidFill>
                  </a:tcPr>
                </a:tc>
                <a:tc>
                  <a:txBody>
                    <a:bodyPr/>
                    <a:lstStyle/>
                    <a:p>
                      <a:r>
                        <a:rPr sz="1300" b="0">
                          <a:solidFill>
                            <a:srgbClr val="3A2414"/>
                          </a:solidFill>
                          <a:latin typeface="Segoe UI"/>
                        </a:rPr>
                        <a:t>Per registration</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Issue codes to pending registrations too?</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Does the code change after an edit?</a:t>
                      </a:r>
                    </a:p>
                  </a:txBody>
                  <a:tcPr marL="73152" marR="73152" marT="36576" marB="36576" anchor="ctr">
                    <a:solidFill>
                      <a:srgbClr val="FFFFFF"/>
                    </a:solidFill>
                  </a:tcPr>
                </a:tc>
                <a:tc>
                  <a:txBody>
                    <a:bodyPr/>
                    <a:lstStyle/>
                    <a:p>
                      <a:r>
                        <a:rPr sz="1300" b="0">
                          <a:solidFill>
                            <a:srgbClr val="3A2414"/>
                          </a:solidFill>
                          <a:latin typeface="Segoe UI"/>
                        </a:rPr>
                        <a:t>No</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Single entry, or can people leave and come back in?</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Generate the email QR in-house instead of through a third-party service?</a:t>
                      </a:r>
                    </a:p>
                  </a:txBody>
                  <a:tcPr marL="73152" marR="73152" marT="36576" marB="36576" anchor="ctr">
                    <a:solidFill>
                      <a:srgbClr val="FFFFFF"/>
                    </a:solidFill>
                  </a:tcPr>
                </a:tc>
                <a:tc>
                  <a:txBody>
                    <a:bodyPr/>
                    <a:lstStyle/>
                    <a:p>
                      <a:r>
                        <a:rPr sz="1300" b="0">
                          <a:solidFill>
                            <a:srgbClr val="3A2414"/>
                          </a:solidFill>
                          <a:latin typeface="Segoe UI"/>
                        </a:rPr>
                        <a:t>Yes, if it can be done for free</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Apple / Google Wallet passes?</a:t>
                      </a:r>
                    </a:p>
                  </a:txBody>
                  <a:tcPr marL="73152" marR="73152" marT="36576" marB="36576" anchor="ctr">
                    <a:solidFill>
                      <a:srgbClr val="F6EFE0"/>
                    </a:solidFill>
                  </a:tcPr>
                </a:tc>
                <a:tc>
                  <a:txBody>
                    <a:bodyPr/>
                    <a:lstStyle/>
                    <a:p>
                      <a:r>
                        <a:rPr sz="1300" b="0">
                          <a:solidFill>
                            <a:srgbClr val="3A2414"/>
                          </a:solidFill>
                          <a:latin typeface="Segoe UI"/>
                        </a:rPr>
                        <a:t>Out of scope</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Open questions - Reading QR codes at the desk</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40</a:t>
            </a:r>
          </a:p>
        </p:txBody>
      </p:sp>
      <p:graphicFrame>
        <p:nvGraphicFramePr>
          <p:cNvPr id="7" name="Table 6"/>
          <p:cNvGraphicFramePr>
            <a:graphicFrameLocks noGrp="1"/>
          </p:cNvGraphicFramePr>
          <p:nvPr/>
        </p:nvGraphicFramePr>
        <p:xfrm>
          <a:off x="411480" y="1188720"/>
          <a:ext cx="11368733" cy="2188464"/>
        </p:xfrm>
        <a:graphic>
          <a:graphicData uri="http://schemas.openxmlformats.org/drawingml/2006/table">
            <a:tbl>
              <a:tblPr firstRow="1" bandRow="1">
                <a:tableStyleId>{5C22544A-7EE6-4342-B048-85BDC9FD1C3A}</a:tableStyleId>
              </a:tblPr>
              <a:tblGrid>
                <a:gridCol w="4950900">
                  <a:extLst>
                    <a:ext uri="{9D8B030D-6E8A-4147-A177-3AD203B41FA5}">
                      <a16:colId xmlns:a16="http://schemas.microsoft.com/office/drawing/2014/main" val="20000"/>
                    </a:ext>
                  </a:extLst>
                </a:gridCol>
                <a:gridCol w="4217433">
                  <a:extLst>
                    <a:ext uri="{9D8B030D-6E8A-4147-A177-3AD203B41FA5}">
                      <a16:colId xmlns:a16="http://schemas.microsoft.com/office/drawing/2014/main" val="20001"/>
                    </a:ext>
                  </a:extLst>
                </a:gridCol>
                <a:gridCol w="2200400">
                  <a:extLst>
                    <a:ext uri="{9D8B030D-6E8A-4147-A177-3AD203B41FA5}">
                      <a16:colId xmlns:a16="http://schemas.microsoft.com/office/drawing/2014/main" val="20002"/>
                    </a:ext>
                  </a:extLst>
                </a:gridCol>
              </a:tblGrid>
              <a:tr h="329184">
                <a:tc>
                  <a:txBody>
                    <a:bodyPr/>
                    <a:lstStyle/>
                    <a:p>
                      <a:r>
                        <a:rPr sz="1300" b="1">
                          <a:solidFill>
                            <a:srgbClr val="FFFFFF"/>
                          </a:solidFill>
                          <a:latin typeface="Segoe UI"/>
                        </a:rPr>
                        <a:t>Question</a:t>
                      </a:r>
                    </a:p>
                  </a:txBody>
                  <a:tcPr marL="73152" marR="73152" marT="36576" marB="36576" anchor="ctr">
                    <a:solidFill>
                      <a:srgbClr val="6D1F2C"/>
                    </a:solidFill>
                  </a:tcPr>
                </a:tc>
                <a:tc>
                  <a:txBody>
                    <a:bodyPr/>
                    <a:lstStyle/>
                    <a:p>
                      <a:r>
                        <a:rPr sz="1300" b="1">
                          <a:solidFill>
                            <a:srgbClr val="FFFFFF"/>
                          </a:solidFill>
                          <a:latin typeface="Segoe UI"/>
                        </a:rPr>
                        <a:t>Suggested default</a:t>
                      </a:r>
                    </a:p>
                  </a:txBody>
                  <a:tcPr marL="73152" marR="73152" marT="36576" marB="36576" anchor="ctr">
                    <a:solidFill>
                      <a:srgbClr val="6D1F2C"/>
                    </a:solidFill>
                  </a:tcPr>
                </a:tc>
                <a:tc>
                  <a:txBody>
                    <a:bodyPr/>
                    <a:lstStyle/>
                    <a:p>
                      <a:r>
                        <a:rPr sz="1300" b="1">
                          <a:solidFill>
                            <a:srgbClr val="FFFFFF"/>
                          </a:solidFill>
                          <a:latin typeface="Segoe UI"/>
                        </a:rPr>
                        <a:t>Decision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Scanner inside the page, or the phone's camera app?</a:t>
                      </a:r>
                    </a:p>
                  </a:txBody>
                  <a:tcPr marL="73152" marR="73152" marT="36576" marB="36576" anchor="ctr">
                    <a:solidFill>
                      <a:srgbClr val="FFFFFF"/>
                    </a:solidFill>
                  </a:tcPr>
                </a:tc>
                <a:tc>
                  <a:txBody>
                    <a:bodyPr/>
                    <a:lstStyle/>
                    <a:p>
                      <a:r>
                        <a:rPr sz="1300" b="0">
                          <a:solidFill>
                            <a:srgbClr val="3A2414"/>
                          </a:solidFill>
                          <a:latin typeface="Segoe UI"/>
                        </a:rPr>
                        <a:t>Scanner inside the page (faster, registrar stays signed in)</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What does a member of the public see when they open the QR link?</a:t>
                      </a:r>
                    </a:p>
                  </a:txBody>
                  <a:tcPr marL="73152" marR="73152" marT="36576" marB="36576" anchor="ctr">
                    <a:solidFill>
                      <a:srgbClr val="F6EFE0"/>
                    </a:solidFill>
                  </a:tcPr>
                </a:tc>
                <a:tc>
                  <a:txBody>
                    <a:bodyPr/>
                    <a:lstStyle/>
                    <a:p>
                      <a:r>
                        <a:rPr sz="1300" b="0">
                          <a:solidFill>
                            <a:srgbClr val="3A2414"/>
                          </a:solidFill>
                          <a:latin typeface="Segoe UI"/>
                        </a:rPr>
                        <a:t>Nothing personal</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What happens on a second scan?</a:t>
                      </a:r>
                    </a:p>
                  </a:txBody>
                  <a:tcPr marL="73152" marR="73152" marT="36576" marB="36576" anchor="ctr">
                    <a:solidFill>
                      <a:srgbClr val="FFFFFF"/>
                    </a:solidFill>
                  </a:tcPr>
                </a:tc>
                <a:tc>
                  <a:txBody>
                    <a:bodyPr/>
                    <a:lstStyle/>
                    <a:p>
                      <a:r>
                        <a:rPr sz="1300" b="0">
                          <a:solidFill>
                            <a:srgbClr val="3A2414"/>
                          </a:solidFill>
                          <a:latin typeface="Segoe UI"/>
                        </a:rPr>
                        <a:t>Warning with the option to override</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Backup plan if the internet fails?</a:t>
                      </a:r>
                    </a:p>
                  </a:txBody>
                  <a:tcPr marL="73152" marR="73152" marT="36576" marB="36576" anchor="ctr">
                    <a:solidFill>
                      <a:srgbClr val="F6EFE0"/>
                    </a:solidFill>
                  </a:tcPr>
                </a:tc>
                <a:tc>
                  <a:txBody>
                    <a:bodyPr/>
                    <a:lstStyle/>
                    <a:p>
                      <a:r>
                        <a:rPr sz="1300" b="0">
                          <a:solidFill>
                            <a:srgbClr val="3A2414"/>
                          </a:solidFill>
                          <a:latin typeface="Segoe UI"/>
                        </a:rPr>
                        <a:t>A printable list for each desk</a:t>
                      </a:r>
                    </a:p>
                  </a:txBody>
                  <a:tcPr marL="73152" marR="73152" marT="36576" marB="36576" anchor="ctr">
                    <a:solidFill>
                      <a:srgbClr val="F6EFE0"/>
                    </a:solidFill>
                  </a:tcPr>
                </a:tc>
                <a:tc>
                  <a:txBody>
                    <a:bodyPr/>
                    <a:lstStyle/>
                    <a:p>
                      <a:endParaRP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Search when someone has no QR code?</a:t>
                      </a:r>
                    </a:p>
                  </a:txBody>
                  <a:tcPr marL="73152" marR="73152" marT="36576" marB="36576" anchor="ctr">
                    <a:solidFill>
                      <a:srgbClr val="FFFFFF"/>
                    </a:solidFill>
                  </a:tcPr>
                </a:tc>
                <a:tc>
                  <a:txBody>
                    <a:bodyPr/>
                    <a:lstStyle/>
                    <a:p>
                      <a:r>
                        <a:rPr sz="1300" b="0">
                          <a:solidFill>
                            <a:srgbClr val="3A2414"/>
                          </a:solidFill>
                          <a:latin typeface="Segoe UI"/>
                        </a:rPr>
                        <a:t>By name, phone or reference</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Other open points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41</a:t>
            </a:r>
          </a:p>
        </p:txBody>
      </p:sp>
      <p:graphicFrame>
        <p:nvGraphicFramePr>
          <p:cNvPr id="7" name="Table 6"/>
          <p:cNvGraphicFramePr>
            <a:graphicFrameLocks noGrp="1"/>
          </p:cNvGraphicFramePr>
          <p:nvPr/>
        </p:nvGraphicFramePr>
        <p:xfrm>
          <a:off x="411480" y="1188720"/>
          <a:ext cx="11368734" cy="3901440"/>
        </p:xfrm>
        <a:graphic>
          <a:graphicData uri="http://schemas.openxmlformats.org/drawingml/2006/table">
            <a:tbl>
              <a:tblPr firstRow="1" bandRow="1">
                <a:tableStyleId>{5C22544A-7EE6-4342-B048-85BDC9FD1C3A}</a:tableStyleId>
              </a:tblPr>
              <a:tblGrid>
                <a:gridCol w="2050099">
                  <a:extLst>
                    <a:ext uri="{9D8B030D-6E8A-4147-A177-3AD203B41FA5}">
                      <a16:colId xmlns:a16="http://schemas.microsoft.com/office/drawing/2014/main" val="20000"/>
                    </a:ext>
                  </a:extLst>
                </a:gridCol>
                <a:gridCol w="9318635">
                  <a:extLst>
                    <a:ext uri="{9D8B030D-6E8A-4147-A177-3AD203B41FA5}">
                      <a16:colId xmlns:a16="http://schemas.microsoft.com/office/drawing/2014/main" val="20001"/>
                    </a:ext>
                  </a:extLst>
                </a:gridCol>
              </a:tblGrid>
              <a:tr h="329184">
                <a:tc>
                  <a:txBody>
                    <a:bodyPr/>
                    <a:lstStyle/>
                    <a:p>
                      <a:r>
                        <a:rPr sz="1300" b="1">
                          <a:solidFill>
                            <a:srgbClr val="FFFFFF"/>
                          </a:solidFill>
                          <a:latin typeface="Segoe UI"/>
                        </a:rPr>
                        <a:t>Topic</a:t>
                      </a:r>
                    </a:p>
                  </a:txBody>
                  <a:tcPr marL="73152" marR="73152" marT="36576" marB="36576" anchor="ctr">
                    <a:solidFill>
                      <a:srgbClr val="6D1F2C"/>
                    </a:solidFill>
                  </a:tcPr>
                </a:tc>
                <a:tc>
                  <a:txBody>
                    <a:bodyPr/>
                    <a:lstStyle/>
                    <a:p>
                      <a:r>
                        <a:rPr sz="1300" b="1">
                          <a:solidFill>
                            <a:srgbClr val="FFFFFF"/>
                          </a:solidFill>
                          <a:latin typeface="Segoe UI"/>
                        </a:rPr>
                        <a:t>Question / action</a:t>
                      </a:r>
                    </a:p>
                  </a:txBody>
                  <a:tcPr marL="73152" marR="73152" marT="36576" marB="36576" anchor="ctr">
                    <a:solidFill>
                      <a:srgbClr val="6D1F2C"/>
                    </a:solidFill>
                  </a:tcPr>
                </a:tc>
                <a:extLst>
                  <a:ext uri="{0D108BD9-81ED-4DB2-BD59-A6C34878D82A}">
                    <a16:rowId xmlns:a16="http://schemas.microsoft.com/office/drawing/2014/main" val="10000"/>
                  </a:ext>
                </a:extLst>
              </a:tr>
              <a:tr h="329184">
                <a:tc>
                  <a:txBody>
                    <a:bodyPr/>
                    <a:lstStyle/>
                    <a:p>
                      <a:r>
                        <a:rPr sz="1300" b="1">
                          <a:solidFill>
                            <a:srgbClr val="3A2414"/>
                          </a:solidFill>
                          <a:latin typeface="Segoe UI"/>
                        </a:rPr>
                        <a:t>Account ownership</a:t>
                      </a:r>
                    </a:p>
                  </a:txBody>
                  <a:tcPr marL="73152" marR="73152" marT="36576" marB="36576" anchor="ctr">
                    <a:solidFill>
                      <a:srgbClr val="FFFFFF"/>
                    </a:solidFill>
                  </a:tcPr>
                </a:tc>
                <a:tc>
                  <a:txBody>
                    <a:bodyPr/>
                    <a:lstStyle/>
                    <a:p>
                      <a:r>
                        <a:rPr sz="1300" b="0">
                          <a:solidFill>
                            <a:srgbClr val="3A2414"/>
                          </a:solidFill>
                          <a:latin typeface="Segoe UI"/>
                        </a:rPr>
                        <a:t>Move Firebase, Apps Script and PayPal from personal accounts to an account owned by the Verein, with at least two owners.</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r>
                        <a:rPr sz="1300" b="1">
                          <a:solidFill>
                            <a:srgbClr val="3A2414"/>
                          </a:solidFill>
                          <a:latin typeface="Segoe UI"/>
                        </a:rPr>
                        <a:t>PayPal account</a:t>
                      </a:r>
                    </a:p>
                  </a:txBody>
                  <a:tcPr marL="73152" marR="73152" marT="36576" marB="36576" anchor="ctr">
                    <a:solidFill>
                      <a:srgbClr val="F6EFE0"/>
                    </a:solidFill>
                  </a:tcPr>
                </a:tc>
                <a:tc>
                  <a:txBody>
                    <a:bodyPr/>
                    <a:lstStyle/>
                    <a:p>
                      <a:r>
                        <a:rPr sz="1300" b="0">
                          <a:solidFill>
                            <a:srgbClr val="3A2414"/>
                          </a:solidFill>
                          <a:latin typeface="Segoe UI"/>
                        </a:rPr>
                        <a:t>Use a PayPal Business account in the Verein's name, and apply for the charity rate.</a:t>
                      </a:r>
                    </a:p>
                  </a:txBody>
                  <a:tcPr marL="73152" marR="73152" marT="36576" marB="36576" anchor="ctr">
                    <a:solidFill>
                      <a:srgbClr val="F6EFE0"/>
                    </a:solidFill>
                  </a:tcPr>
                </a:tc>
                <a:extLst>
                  <a:ext uri="{0D108BD9-81ED-4DB2-BD59-A6C34878D82A}">
                    <a16:rowId xmlns:a16="http://schemas.microsoft.com/office/drawing/2014/main" val="10002"/>
                  </a:ext>
                </a:extLst>
              </a:tr>
              <a:tr h="329184">
                <a:tc>
                  <a:txBody>
                    <a:bodyPr/>
                    <a:lstStyle/>
                    <a:p>
                      <a:r>
                        <a:rPr sz="1300" b="1">
                          <a:solidFill>
                            <a:srgbClr val="3A2414"/>
                          </a:solidFill>
                          <a:latin typeface="Segoe UI"/>
                        </a:rPr>
                        <a:t>Bank details</a:t>
                      </a:r>
                    </a:p>
                  </a:txBody>
                  <a:tcPr marL="73152" marR="73152" marT="36576" marB="36576" anchor="ctr">
                    <a:solidFill>
                      <a:srgbClr val="FFFFFF"/>
                    </a:solidFill>
                  </a:tcPr>
                </a:tc>
                <a:tc>
                  <a:txBody>
                    <a:bodyPr/>
                    <a:lstStyle/>
                    <a:p>
                      <a:r>
                        <a:rPr sz="1300" b="0">
                          <a:solidFill>
                            <a:srgbClr val="3A2414"/>
                          </a:solidFill>
                          <a:latin typeface="Segoe UI"/>
                        </a:rPr>
                        <a:t>Fill in the real IBAN and BIC (the current ones are placeholders).</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r>
                        <a:rPr sz="1300" b="1">
                          <a:solidFill>
                            <a:srgbClr val="3A2414"/>
                          </a:solidFill>
                          <a:latin typeface="Segoe UI"/>
                        </a:rPr>
                        <a:t>Email limit</a:t>
                      </a:r>
                    </a:p>
                  </a:txBody>
                  <a:tcPr marL="73152" marR="73152" marT="36576" marB="36576" anchor="ctr">
                    <a:solidFill>
                      <a:srgbClr val="F6EFE0"/>
                    </a:solidFill>
                  </a:tcPr>
                </a:tc>
                <a:tc>
                  <a:txBody>
                    <a:bodyPr/>
                    <a:lstStyle/>
                    <a:p>
                      <a:r>
                        <a:rPr sz="1300" b="0">
                          <a:solidFill>
                            <a:srgbClr val="3A2414"/>
                          </a:solidFill>
                          <a:latin typeface="Segoe UI"/>
                        </a:rPr>
                        <a:t>How many people will be invited? Compare with the free daily sending limit.</a:t>
                      </a:r>
                    </a:p>
                  </a:txBody>
                  <a:tcPr marL="73152" marR="73152" marT="36576" marB="36576" anchor="ctr">
                    <a:solidFill>
                      <a:srgbClr val="F6EFE0"/>
                    </a:solidFill>
                  </a:tcPr>
                </a:tc>
                <a:extLst>
                  <a:ext uri="{0D108BD9-81ED-4DB2-BD59-A6C34878D82A}">
                    <a16:rowId xmlns:a16="http://schemas.microsoft.com/office/drawing/2014/main" val="10004"/>
                  </a:ext>
                </a:extLst>
              </a:tr>
              <a:tr h="329184">
                <a:tc>
                  <a:txBody>
                    <a:bodyPr/>
                    <a:lstStyle/>
                    <a:p>
                      <a:r>
                        <a:rPr sz="1300" b="1">
                          <a:solidFill>
                            <a:srgbClr val="3A2414"/>
                          </a:solidFill>
                          <a:latin typeface="Segoe UI"/>
                        </a:rPr>
                        <a:t>Media consent</a:t>
                      </a:r>
                    </a:p>
                  </a:txBody>
                  <a:tcPr marL="73152" marR="73152" marT="36576" marB="36576" anchor="ctr">
                    <a:solidFill>
                      <a:srgbClr val="FFFFFF"/>
                    </a:solidFill>
                  </a:tcPr>
                </a:tc>
                <a:tc>
                  <a:txBody>
                    <a:bodyPr/>
                    <a:lstStyle/>
                    <a:p>
                      <a:r>
                        <a:rPr sz="1300" b="0">
                          <a:solidFill>
                            <a:srgbClr val="3A2414"/>
                          </a:solidFill>
                          <a:latin typeface="Segoe UI"/>
                        </a:rPr>
                        <a:t>Today it is required to register. GDPR expects consent to be freely given – make it optional and mark those attendees with a badge?</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r>
                        <a:rPr sz="1300" b="1">
                          <a:solidFill>
                            <a:srgbClr val="3A2414"/>
                          </a:solidFill>
                          <a:latin typeface="Segoe UI"/>
                        </a:rPr>
                        <a:t>Privacy</a:t>
                      </a:r>
                    </a:p>
                  </a:txBody>
                  <a:tcPr marL="73152" marR="73152" marT="36576" marB="36576" anchor="ctr">
                    <a:solidFill>
                      <a:srgbClr val="F6EFE0"/>
                    </a:solidFill>
                  </a:tcPr>
                </a:tc>
                <a:tc>
                  <a:txBody>
                    <a:bodyPr/>
                    <a:lstStyle/>
                    <a:p>
                      <a:r>
                        <a:rPr sz="1300" b="0">
                          <a:solidFill>
                            <a:srgbClr val="3A2414"/>
                          </a:solidFill>
                          <a:latin typeface="Segoe UI"/>
                        </a:rPr>
                        <a:t>Link a full privacy notice (Datenschutzerklärung), set a retention period, accept Google's data processing agreement in the console, and define a deletion process.</a:t>
                      </a:r>
                    </a:p>
                  </a:txBody>
                  <a:tcPr marL="73152" marR="73152" marT="36576" marB="36576" anchor="ctr">
                    <a:solidFill>
                      <a:srgbClr val="F6EFE0"/>
                    </a:solidFill>
                  </a:tcPr>
                </a:tc>
                <a:extLst>
                  <a:ext uri="{0D108BD9-81ED-4DB2-BD59-A6C34878D82A}">
                    <a16:rowId xmlns:a16="http://schemas.microsoft.com/office/drawing/2014/main" val="10006"/>
                  </a:ext>
                </a:extLst>
              </a:tr>
              <a:tr h="329184">
                <a:tc>
                  <a:txBody>
                    <a:bodyPr/>
                    <a:lstStyle/>
                    <a:p>
                      <a:r>
                        <a:rPr sz="1300" b="1">
                          <a:solidFill>
                            <a:srgbClr val="3A2414"/>
                          </a:solidFill>
                          <a:latin typeface="Segoe UI"/>
                        </a:rPr>
                        <a:t>Expected numbers</a:t>
                      </a:r>
                    </a:p>
                  </a:txBody>
                  <a:tcPr marL="73152" marR="73152" marT="36576" marB="36576" anchor="ctr">
                    <a:solidFill>
                      <a:srgbClr val="FFFFFF"/>
                    </a:solidFill>
                  </a:tcPr>
                </a:tc>
                <a:tc>
                  <a:txBody>
                    <a:bodyPr/>
                    <a:lstStyle/>
                    <a:p>
                      <a:r>
                        <a:rPr sz="1300" b="0">
                          <a:solidFill>
                            <a:srgbClr val="3A2414"/>
                          </a:solidFill>
                          <a:latin typeface="Segoe UI"/>
                        </a:rPr>
                        <a:t>Expected invitees, registrations and attendees, to check against the free limits.</a:t>
                      </a:r>
                    </a:p>
                  </a:txBody>
                  <a:tcPr marL="73152" marR="73152" marT="36576" marB="36576" anchor="ctr">
                    <a:solidFill>
                      <a:srgbClr val="FFFFFF"/>
                    </a:solidFill>
                  </a:tcPr>
                </a:tc>
                <a:extLst>
                  <a:ext uri="{0D108BD9-81ED-4DB2-BD59-A6C34878D82A}">
                    <a16:rowId xmlns:a16="http://schemas.microsoft.com/office/drawing/2014/main" val="10007"/>
                  </a:ext>
                </a:extLst>
              </a:tr>
              <a:tr h="329184">
                <a:tc>
                  <a:txBody>
                    <a:bodyPr/>
                    <a:lstStyle/>
                    <a:p>
                      <a:r>
                        <a:rPr sz="1300" b="1">
                          <a:solidFill>
                            <a:srgbClr val="3A2414"/>
                          </a:solidFill>
                          <a:latin typeface="Segoe UI"/>
                        </a:rPr>
                        <a:t>Bookkeeping</a:t>
                      </a:r>
                    </a:p>
                  </a:txBody>
                  <a:tcPr marL="73152" marR="73152" marT="36576" marB="36576" anchor="ctr">
                    <a:solidFill>
                      <a:srgbClr val="F6EFE0"/>
                    </a:solidFill>
                  </a:tcPr>
                </a:tc>
                <a:tc>
                  <a:txBody>
                    <a:bodyPr/>
                    <a:lstStyle/>
                    <a:p>
                      <a:r>
                        <a:rPr sz="1300" b="0">
                          <a:solidFill>
                            <a:srgbClr val="3A2414"/>
                          </a:solidFill>
                          <a:latin typeface="Segoe UI"/>
                        </a:rPr>
                        <a:t>What export does the treasurer (Kassenwart) need?</a:t>
                      </a:r>
                    </a:p>
                  </a:txBody>
                  <a:tcPr marL="73152" marR="73152" marT="36576" marB="36576" anchor="ctr">
                    <a:solidFill>
                      <a:srgbClr val="F6EFE0"/>
                    </a:solidFill>
                  </a:tcPr>
                </a:tc>
                <a:extLst>
                  <a:ext uri="{0D108BD9-81ED-4DB2-BD59-A6C34878D82A}">
                    <a16:rowId xmlns:a16="http://schemas.microsoft.com/office/drawing/2014/main" val="10008"/>
                  </a:ext>
                </a:extLst>
              </a:tr>
              <a:tr h="329184">
                <a:tc>
                  <a:txBody>
                    <a:bodyPr/>
                    <a:lstStyle/>
                    <a:p>
                      <a:r>
                        <a:rPr sz="1300" b="1">
                          <a:solidFill>
                            <a:srgbClr val="3A2414"/>
                          </a:solidFill>
                          <a:latin typeface="Segoe UI"/>
                        </a:rPr>
                        <a:t>Domain</a:t>
                      </a:r>
                    </a:p>
                  </a:txBody>
                  <a:tcPr marL="73152" marR="73152" marT="36576" marB="36576" anchor="ctr">
                    <a:solidFill>
                      <a:srgbClr val="FFFFFF"/>
                    </a:solidFill>
                  </a:tcPr>
                </a:tc>
                <a:tc>
                  <a:txBody>
                    <a:bodyPr/>
                    <a:lstStyle/>
                    <a:p>
                      <a:r>
                        <a:rPr sz="1300" b="0">
                          <a:solidFill>
                            <a:srgbClr val="3A2414"/>
                          </a:solidFill>
                          <a:latin typeface="Segoe UI"/>
                        </a:rPr>
                        <a:t>Use a custom domain (for example seva.&lt;verein&gt;.de) or keep github.io?</a:t>
                      </a:r>
                    </a:p>
                  </a:txBody>
                  <a:tcPr marL="73152" marR="73152" marT="36576" marB="36576" anchor="ctr">
                    <a:solidFill>
                      <a:srgbClr val="FFFFFF"/>
                    </a:solidFill>
                  </a:tcPr>
                </a:tc>
                <a:extLst>
                  <a:ext uri="{0D108BD9-81ED-4DB2-BD59-A6C34878D82A}">
                    <a16:rowId xmlns:a16="http://schemas.microsoft.com/office/drawing/2014/main" val="10009"/>
                  </a:ext>
                </a:extLst>
              </a:tr>
              <a:tr h="329184">
                <a:tc>
                  <a:txBody>
                    <a:bodyPr/>
                    <a:lstStyle/>
                    <a:p>
                      <a:r>
                        <a:rPr sz="1300" b="1">
                          <a:solidFill>
                            <a:srgbClr val="3A2414"/>
                          </a:solidFill>
                          <a:latin typeface="Segoe UI"/>
                        </a:rPr>
                        <a:t>Languages</a:t>
                      </a:r>
                    </a:p>
                  </a:txBody>
                  <a:tcPr marL="73152" marR="73152" marT="36576" marB="36576" anchor="ctr">
                    <a:solidFill>
                      <a:srgbClr val="F6EFE0"/>
                    </a:solidFill>
                  </a:tcPr>
                </a:tc>
                <a:tc>
                  <a:txBody>
                    <a:bodyPr/>
                    <a:lstStyle/>
                    <a:p>
                      <a:r>
                        <a:rPr sz="1300" b="0">
                          <a:solidFill>
                            <a:srgbClr val="3A2414"/>
                          </a:solidFill>
                          <a:latin typeface="Segoe UI"/>
                        </a:rPr>
                        <a:t>English only, or also Kannada and German?</a:t>
                      </a:r>
                    </a:p>
                  </a:txBody>
                  <a:tcPr marL="73152" marR="73152" marT="36576" marB="36576" anchor="ctr">
                    <a:solidFill>
                      <a:srgbClr val="F6EFE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Suggestions</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42</a:t>
            </a:r>
          </a:p>
        </p:txBody>
      </p:sp>
      <p:sp>
        <p:nvSpPr>
          <p:cNvPr id="7" name="TextBox 6"/>
          <p:cNvSpPr txBox="1"/>
          <p:nvPr/>
        </p:nvSpPr>
        <p:spPr>
          <a:xfrm>
            <a:off x="411480" y="1280160"/>
            <a:ext cx="5501487" cy="5166360"/>
          </a:xfrm>
          <a:prstGeom prst="rect">
            <a:avLst/>
          </a:prstGeom>
          <a:noFill/>
        </p:spPr>
        <p:txBody>
          <a:bodyPr wrap="square">
            <a:spAutoFit/>
          </a:bodyPr>
          <a:lstStyle/>
          <a:p>
            <a:pPr marL="320040" indent="-320040">
              <a:spcAft>
                <a:spcPts val="600"/>
              </a:spcAft>
            </a:pPr>
            <a:r>
              <a:rPr sz="1500" b="1">
                <a:solidFill>
                  <a:srgbClr val="B3781A"/>
                </a:solidFill>
                <a:latin typeface="Segoe UI"/>
              </a:rPr>
              <a:t>•	</a:t>
            </a:r>
            <a:r>
              <a:rPr sz="1500" b="0">
                <a:solidFill>
                  <a:srgbClr val="3A2414"/>
                </a:solidFill>
                <a:latin typeface="Segoe UI"/>
              </a:rPr>
              <a:t>Apply for Google for Nonprofits. Workspace is free for registered non-profits, which raises the email limit and gives shared ownership of accounts.</a:t>
            </a:r>
          </a:p>
          <a:p>
            <a:pPr marL="320040" indent="-320040">
              <a:spcAft>
                <a:spcPts val="600"/>
              </a:spcAft>
            </a:pPr>
            <a:r>
              <a:rPr sz="1500" b="1">
                <a:solidFill>
                  <a:srgbClr val="B3781A"/>
                </a:solidFill>
                <a:latin typeface="Segoe UI"/>
              </a:rPr>
              <a:t>•	</a:t>
            </a:r>
            <a:r>
              <a:rPr sz="1500" b="0">
                <a:solidFill>
                  <a:srgbClr val="3A2414"/>
                </a:solidFill>
                <a:latin typeface="Segoe UI"/>
              </a:rPr>
              <a:t>Show a GiroCode on the bank-transfer screen. German banking apps scan it and fill in the amount and reference, so there are fewer typos and matching is easier.</a:t>
            </a:r>
          </a:p>
          <a:p>
            <a:pPr marL="320040" indent="-320040">
              <a:spcAft>
                <a:spcPts val="600"/>
              </a:spcAft>
            </a:pPr>
            <a:r>
              <a:rPr sz="1500" b="1">
                <a:solidFill>
                  <a:srgbClr val="B3781A"/>
                </a:solidFill>
                <a:latin typeface="Segoe UI"/>
              </a:rPr>
              <a:t>•	</a:t>
            </a:r>
            <a:r>
              <a:rPr sz="1500" b="0">
                <a:solidFill>
                  <a:srgbClr val="3A2414"/>
                </a:solidFill>
                <a:latin typeface="Segoe UI"/>
              </a:rPr>
              <a:t>Import the bank's CSV export in the admin page and match payments automatically, instead of checking statements by hand.</a:t>
            </a:r>
          </a:p>
          <a:p>
            <a:pPr marL="320040" indent="-320040">
              <a:spcAft>
                <a:spcPts val="600"/>
              </a:spcAft>
            </a:pPr>
            <a:r>
              <a:rPr sz="1500" b="1">
                <a:solidFill>
                  <a:srgbClr val="B3781A"/>
                </a:solidFill>
                <a:latin typeface="Segoe UI"/>
              </a:rPr>
              <a:t>•	</a:t>
            </a:r>
            <a:r>
              <a:rPr sz="1500" b="0">
                <a:solidFill>
                  <a:srgbClr val="3A2414"/>
                </a:solidFill>
                <a:latin typeface="Segoe UI"/>
              </a:rPr>
              <a:t>Make Apps Script the only trusted backend. Every sensitive write goes through it and the database rules block everything else. This avoids needing the paid Firebase plan.</a:t>
            </a:r>
          </a:p>
          <a:p>
            <a:pPr marL="320040" indent="-320040">
              <a:spcAft>
                <a:spcPts val="600"/>
              </a:spcAft>
            </a:pPr>
            <a:r>
              <a:rPr sz="1500" b="1">
                <a:solidFill>
                  <a:srgbClr val="B3781A"/>
                </a:solidFill>
                <a:latin typeface="Segoe UI"/>
              </a:rPr>
              <a:t>•	</a:t>
            </a:r>
            <a:r>
              <a:rPr sz="1500" b="0">
                <a:solidFill>
                  <a:srgbClr val="3A2414"/>
                </a:solidFill>
                <a:latin typeface="Segoe UI"/>
              </a:rPr>
              <a:t>Keep the seva list and event settings in Firestore, so the Website Admin can change them without a developer.</a:t>
            </a:r>
          </a:p>
          <a:p>
            <a:pPr marL="320040" indent="-320040">
              <a:spcAft>
                <a:spcPts val="600"/>
              </a:spcAft>
            </a:pPr>
            <a:r>
              <a:rPr sz="1500" b="1">
                <a:solidFill>
                  <a:srgbClr val="B3781A"/>
                </a:solidFill>
                <a:latin typeface="Segoe UI"/>
              </a:rPr>
              <a:t>•	</a:t>
            </a:r>
            <a:r>
              <a:rPr sz="1500" b="0">
                <a:solidFill>
                  <a:srgbClr val="3A2414"/>
                </a:solidFill>
                <a:latin typeface="Segoe UI"/>
              </a:rPr>
              <a:t>Make media consent optional, in line with GDPR.</a:t>
            </a:r>
          </a:p>
        </p:txBody>
      </p:sp>
      <p:sp>
        <p:nvSpPr>
          <p:cNvPr id="8" name="TextBox 7"/>
          <p:cNvSpPr txBox="1"/>
          <p:nvPr/>
        </p:nvSpPr>
        <p:spPr>
          <a:xfrm>
            <a:off x="6278727" y="1280160"/>
            <a:ext cx="5501487" cy="5166360"/>
          </a:xfrm>
          <a:prstGeom prst="rect">
            <a:avLst/>
          </a:prstGeom>
          <a:noFill/>
        </p:spPr>
        <p:txBody>
          <a:bodyPr wrap="square">
            <a:spAutoFit/>
          </a:bodyPr>
          <a:lstStyle/>
          <a:p>
            <a:pPr marL="320040" indent="-320040">
              <a:spcAft>
                <a:spcPts val="600"/>
              </a:spcAft>
            </a:pPr>
            <a:r>
              <a:rPr sz="1500" b="1">
                <a:solidFill>
                  <a:srgbClr val="B3781A"/>
                </a:solidFill>
                <a:latin typeface="Segoe UI"/>
              </a:rPr>
              <a:t>•	</a:t>
            </a:r>
            <a:r>
              <a:rPr sz="1500" b="0">
                <a:solidFill>
                  <a:srgbClr val="3A2414"/>
                </a:solidFill>
                <a:latin typeface="Segoe UI"/>
              </a:rPr>
              <a:t>Use structured fields (postcode, adults and children, "how did you hear about us") for better analysis.</a:t>
            </a:r>
          </a:p>
          <a:p>
            <a:pPr marL="320040" indent="-320040">
              <a:spcAft>
                <a:spcPts val="600"/>
              </a:spcAft>
            </a:pPr>
            <a:r>
              <a:rPr sz="1500" b="1">
                <a:solidFill>
                  <a:srgbClr val="B3781A"/>
                </a:solidFill>
                <a:latin typeface="Segoe UI"/>
              </a:rPr>
              <a:t>•	</a:t>
            </a:r>
            <a:r>
              <a:rPr sz="1500" b="0">
                <a:solidFill>
                  <a:srgbClr val="3A2414"/>
                </a:solidFill>
                <a:latin typeface="Segoe UI"/>
              </a:rPr>
              <a:t>Record a timestamp for every status change to enable funnel and timing analysis.</a:t>
            </a:r>
          </a:p>
          <a:p>
            <a:pPr marL="320040" indent="-320040">
              <a:spcAft>
                <a:spcPts val="600"/>
              </a:spcAft>
            </a:pPr>
            <a:r>
              <a:rPr sz="1500" b="1">
                <a:solidFill>
                  <a:srgbClr val="B3781A"/>
                </a:solidFill>
                <a:latin typeface="Segoe UI"/>
              </a:rPr>
              <a:t>•	</a:t>
            </a:r>
            <a:r>
              <a:rPr sz="1500" b="0">
                <a:solidFill>
                  <a:srgbClr val="3A2414"/>
                </a:solidFill>
                <a:latin typeface="Segoe UI"/>
              </a:rPr>
              <a:t>Send a "Know before you go" email with the QR code a few days before the event, to reduce no-shows.</a:t>
            </a:r>
          </a:p>
          <a:p>
            <a:pPr marL="320040" indent="-320040">
              <a:spcAft>
                <a:spcPts val="600"/>
              </a:spcAft>
            </a:pPr>
            <a:r>
              <a:rPr sz="1500" b="1">
                <a:solidFill>
                  <a:srgbClr val="B3781A"/>
                </a:solidFill>
                <a:latin typeface="Segoe UI"/>
              </a:rPr>
              <a:t>•	</a:t>
            </a:r>
            <a:r>
              <a:rPr sz="1500" b="0">
                <a:solidFill>
                  <a:srgbClr val="3A2414"/>
                </a:solidFill>
                <a:latin typeface="Segoe UI"/>
              </a:rPr>
              <a:t>Test every rules change in the Firebase Emulator before publishing.</a:t>
            </a:r>
          </a:p>
          <a:p>
            <a:pPr marL="320040" indent="-320040">
              <a:spcAft>
                <a:spcPts val="600"/>
              </a:spcAft>
            </a:pPr>
            <a:r>
              <a:rPr sz="1500" b="1">
                <a:solidFill>
                  <a:srgbClr val="B3781A"/>
                </a:solidFill>
                <a:latin typeface="Segoe UI"/>
              </a:rPr>
              <a:t>•	</a:t>
            </a:r>
            <a:r>
              <a:rPr sz="1500" b="0">
                <a:solidFill>
                  <a:srgbClr val="3A2414"/>
                </a:solidFill>
                <a:latin typeface="Segoe UI"/>
              </a:rPr>
              <a:t>Keep a printable or CSV list for each desk as a backup if the internet fails.</a:t>
            </a:r>
          </a:p>
          <a:p>
            <a:pPr marL="320040" indent="-320040">
              <a:spcAft>
                <a:spcPts val="600"/>
              </a:spcAft>
            </a:pPr>
            <a:r>
              <a:rPr sz="1500" b="1">
                <a:solidFill>
                  <a:srgbClr val="B3781A"/>
                </a:solidFill>
                <a:latin typeface="Segoe UI"/>
              </a:rPr>
              <a:t>•	</a:t>
            </a:r>
            <a:r>
              <a:rPr sz="1500" b="0">
                <a:solidFill>
                  <a:srgbClr val="3A2414"/>
                </a:solidFill>
                <a:latin typeface="Segoe UI"/>
              </a:rPr>
              <a:t>Keep money tasks separate: the person who sets prices doesn't confirm payments.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37160"/>
            <a:ext cx="11368735" cy="685800"/>
          </a:xfrm>
          <a:prstGeom prst="rect">
            <a:avLst/>
          </a:prstGeom>
          <a:noFill/>
        </p:spPr>
        <p:txBody>
          <a:bodyPr wrap="square" anchor="ctr">
            <a:spAutoFit/>
          </a:bodyPr>
          <a:lstStyle/>
          <a:p>
            <a:pPr algn="l"/>
            <a:r>
              <a:rPr sz="2800" b="1">
                <a:solidFill>
                  <a:srgbClr val="FFFFFF"/>
                </a:solidFill>
                <a:latin typeface="Georgia"/>
              </a:rPr>
              <a:t>Verification and scope</a:t>
            </a:r>
          </a:p>
        </p:txBody>
      </p:sp>
      <p:sp>
        <p:nvSpPr>
          <p:cNvPr id="5" name="TextBox 4"/>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p:cNvSpPr txBox="1"/>
          <p:nvPr/>
        </p:nvSpPr>
        <p:spPr>
          <a:xfrm>
            <a:off x="10865815" y="6446520"/>
            <a:ext cx="914400" cy="320040"/>
          </a:xfrm>
          <a:prstGeom prst="rect">
            <a:avLst/>
          </a:prstGeom>
          <a:noFill/>
        </p:spPr>
        <p:txBody>
          <a:bodyPr wrap="square" anchor="t">
            <a:spAutoFit/>
          </a:bodyPr>
          <a:lstStyle/>
          <a:p>
            <a:pPr algn="r"/>
            <a:r>
              <a:rPr sz="1000" b="0">
                <a:solidFill>
                  <a:srgbClr val="6F5C46"/>
                </a:solidFill>
                <a:latin typeface="Segoe UI"/>
              </a:rPr>
              <a:t>43</a:t>
            </a:r>
          </a:p>
        </p:txBody>
      </p:sp>
      <p:sp>
        <p:nvSpPr>
          <p:cNvPr id="7" name="TextBox 6"/>
          <p:cNvSpPr txBox="1"/>
          <p:nvPr/>
        </p:nvSpPr>
        <p:spPr>
          <a:xfrm>
            <a:off x="411480" y="1280160"/>
            <a:ext cx="5501487" cy="5166360"/>
          </a:xfrm>
          <a:prstGeom prst="rect">
            <a:avLst/>
          </a:prstGeom>
          <a:noFill/>
        </p:spPr>
        <p:txBody>
          <a:bodyPr wrap="square">
            <a:spAutoFit/>
          </a:bodyPr>
          <a:lstStyle/>
          <a:p>
            <a:pPr>
              <a:spcAft>
                <a:spcPts val="800"/>
              </a:spcAft>
            </a:pPr>
            <a:r>
              <a:rPr sz="1700" b="1">
                <a:solidFill>
                  <a:srgbClr val="6D1F2C"/>
                </a:solidFill>
                <a:latin typeface="Georgia"/>
              </a:rPr>
              <a:t>How we verify each phase</a:t>
            </a:r>
          </a:p>
          <a:p>
            <a:pPr marL="320040" indent="-320040">
              <a:spcAft>
                <a:spcPts val="600"/>
              </a:spcAft>
            </a:pPr>
            <a:r>
              <a:rPr sz="1500" b="1">
                <a:solidFill>
                  <a:srgbClr val="B3781A"/>
                </a:solidFill>
                <a:latin typeface="Segoe UI"/>
              </a:rPr>
              <a:t>1.	</a:t>
            </a:r>
            <a:r>
              <a:rPr sz="1500" b="0">
                <a:solidFill>
                  <a:srgbClr val="3A2414"/>
                </a:solidFill>
                <a:latin typeface="Segoe UI"/>
              </a:rPr>
              <a:t>Rules tests in the Firebase Emulator. Each of these must be refused:</a:t>
            </a:r>
          </a:p>
          <a:p>
            <a:pPr marL="640080" indent="-320040">
              <a:spcAft>
                <a:spcPts val="200"/>
              </a:spcAft>
            </a:pPr>
            <a:r>
              <a:rPr sz="1300" b="1">
                <a:solidFill>
                  <a:srgbClr val="B3781A"/>
                </a:solidFill>
                <a:latin typeface="Segoe UI"/>
              </a:rPr>
              <a:t>–	</a:t>
            </a:r>
            <a:r>
              <a:rPr sz="1300" b="0">
                <a:solidFill>
                  <a:srgbClr val="3A2414"/>
                </a:solidFill>
                <a:latin typeface="Segoe UI"/>
              </a:rPr>
              <a:t>reading a registration without a staff role</a:t>
            </a:r>
          </a:p>
          <a:p>
            <a:pPr marL="640080" indent="-320040">
              <a:spcAft>
                <a:spcPts val="200"/>
              </a:spcAft>
            </a:pPr>
            <a:r>
              <a:rPr sz="1300" b="1">
                <a:solidFill>
                  <a:srgbClr val="B3781A"/>
                </a:solidFill>
                <a:latin typeface="Segoe UI"/>
              </a:rPr>
              <a:t>–	</a:t>
            </a:r>
            <a:r>
              <a:rPr sz="1300" b="0">
                <a:solidFill>
                  <a:srgbClr val="3A2414"/>
                </a:solidFill>
                <a:latin typeface="Segoe UI"/>
              </a:rPr>
              <a:t>submitting sevas with a €0 total</a:t>
            </a:r>
          </a:p>
          <a:p>
            <a:pPr marL="640080" indent="-320040">
              <a:spcAft>
                <a:spcPts val="200"/>
              </a:spcAft>
            </a:pPr>
            <a:r>
              <a:rPr sz="1300" b="1">
                <a:solidFill>
                  <a:srgbClr val="B3781A"/>
                </a:solidFill>
                <a:latin typeface="Segoe UI"/>
              </a:rPr>
              <a:t>–	</a:t>
            </a:r>
            <a:r>
              <a:rPr sz="1300" b="0">
                <a:solidFill>
                  <a:srgbClr val="3A2414"/>
                </a:solidFill>
                <a:latin typeface="Segoe UI"/>
              </a:rPr>
              <a:t>editing outside the window</a:t>
            </a:r>
          </a:p>
          <a:p>
            <a:pPr marL="640080" indent="-320040">
              <a:spcAft>
                <a:spcPts val="200"/>
              </a:spcAft>
            </a:pPr>
            <a:r>
              <a:rPr sz="1300" b="1">
                <a:solidFill>
                  <a:srgbClr val="B3781A"/>
                </a:solidFill>
                <a:latin typeface="Segoe UI"/>
              </a:rPr>
              <a:t>–	</a:t>
            </a:r>
            <a:r>
              <a:rPr sz="1300" b="0">
                <a:solidFill>
                  <a:srgbClr val="3A2414"/>
                </a:solidFill>
                <a:latin typeface="Segoe UI"/>
              </a:rPr>
              <a:t>a Registrar changing payment fields</a:t>
            </a:r>
          </a:p>
          <a:p>
            <a:pPr marL="320040" indent="-320040">
              <a:spcAft>
                <a:spcPts val="600"/>
              </a:spcAft>
            </a:pPr>
            <a:r>
              <a:rPr sz="1500" b="1">
                <a:solidFill>
                  <a:srgbClr val="B3781A"/>
                </a:solidFill>
                <a:latin typeface="Segoe UI"/>
              </a:rPr>
              <a:t>2.	</a:t>
            </a:r>
            <a:r>
              <a:rPr sz="1500" b="0">
                <a:solidFill>
                  <a:srgbClr val="3A2414"/>
                </a:solidFill>
                <a:latin typeface="Segoe UI"/>
              </a:rPr>
              <a:t>Walk through each type of user:</a:t>
            </a:r>
          </a:p>
          <a:p>
            <a:pPr marL="640080" indent="-320040">
              <a:spcAft>
                <a:spcPts val="200"/>
              </a:spcAft>
            </a:pPr>
            <a:r>
              <a:rPr sz="1300" b="1">
                <a:solidFill>
                  <a:srgbClr val="B3781A"/>
                </a:solidFill>
                <a:latin typeface="Segoe UI"/>
              </a:rPr>
              <a:t>–	</a:t>
            </a:r>
            <a:r>
              <a:rPr sz="1300" b="0">
                <a:solidFill>
                  <a:srgbClr val="3A2414"/>
                </a:solidFill>
                <a:latin typeface="Segoe UI"/>
              </a:rPr>
              <a:t>free darshan</a:t>
            </a:r>
          </a:p>
          <a:p>
            <a:pPr marL="640080" indent="-320040">
              <a:spcAft>
                <a:spcPts val="200"/>
              </a:spcAft>
            </a:pPr>
            <a:r>
              <a:rPr sz="1300" b="1">
                <a:solidFill>
                  <a:srgbClr val="B3781A"/>
                </a:solidFill>
                <a:latin typeface="Segoe UI"/>
              </a:rPr>
              <a:t>–	</a:t>
            </a:r>
            <a:r>
              <a:rPr sz="1300" b="0">
                <a:solidFill>
                  <a:srgbClr val="3A2414"/>
                </a:solidFill>
                <a:latin typeface="Segoe UI"/>
              </a:rPr>
              <a:t>PayPal, using a free PayPal sandbox (test) account</a:t>
            </a:r>
          </a:p>
          <a:p>
            <a:pPr marL="640080" indent="-320040">
              <a:spcAft>
                <a:spcPts val="200"/>
              </a:spcAft>
            </a:pPr>
            <a:r>
              <a:rPr sz="1300" b="1">
                <a:solidFill>
                  <a:srgbClr val="B3781A"/>
                </a:solidFill>
                <a:latin typeface="Segoe UI"/>
              </a:rPr>
              <a:t>–	</a:t>
            </a:r>
            <a:r>
              <a:rPr sz="1300" b="0">
                <a:solidFill>
                  <a:srgbClr val="3A2414"/>
                </a:solidFill>
                <a:latin typeface="Segoe UI"/>
              </a:rPr>
              <a:t>bank transfer, scanning the GiroCode with a banking app</a:t>
            </a:r>
          </a:p>
          <a:p>
            <a:pPr marL="640080" indent="-320040">
              <a:spcAft>
                <a:spcPts val="200"/>
              </a:spcAft>
            </a:pPr>
            <a:r>
              <a:rPr sz="1300" b="1">
                <a:solidFill>
                  <a:srgbClr val="B3781A"/>
                </a:solidFill>
                <a:latin typeface="Segoe UI"/>
              </a:rPr>
              <a:t>–	</a:t>
            </a:r>
            <a:r>
              <a:rPr sz="1300" b="0">
                <a:solidFill>
                  <a:srgbClr val="3A2414"/>
                </a:solidFill>
                <a:latin typeface="Segoe UI"/>
              </a:rPr>
              <a:t>declining an RSVP</a:t>
            </a:r>
          </a:p>
          <a:p>
            <a:pPr marL="640080" indent="-320040">
              <a:spcAft>
                <a:spcPts val="200"/>
              </a:spcAft>
            </a:pPr>
            <a:r>
              <a:rPr sz="1300" b="1">
                <a:solidFill>
                  <a:srgbClr val="B3781A"/>
                </a:solidFill>
                <a:latin typeface="Segoe UI"/>
              </a:rPr>
              <a:t>–	</a:t>
            </a:r>
            <a:r>
              <a:rPr sz="1300" b="0">
                <a:solidFill>
                  <a:srgbClr val="3A2414"/>
                </a:solidFill>
                <a:latin typeface="Segoe UI"/>
              </a:rPr>
              <a:t>moving up from the waitlist</a:t>
            </a:r>
          </a:p>
          <a:p>
            <a:pPr marL="640080" indent="-320040">
              <a:spcAft>
                <a:spcPts val="200"/>
              </a:spcAft>
            </a:pPr>
            <a:r>
              <a:rPr sz="1300" b="1">
                <a:solidFill>
                  <a:srgbClr val="B3781A"/>
                </a:solidFill>
                <a:latin typeface="Segoe UI"/>
              </a:rPr>
              <a:t>–	</a:t>
            </a:r>
            <a:r>
              <a:rPr sz="1300" b="0">
                <a:solidFill>
                  <a:srgbClr val="3A2414"/>
                </a:solidFill>
                <a:latin typeface="Segoe UI"/>
              </a:rPr>
              <a:t>editing inside and outside the window</a:t>
            </a:r>
          </a:p>
          <a:p>
            <a:pPr marL="640080" indent="-320040">
              <a:spcAft>
                <a:spcPts val="200"/>
              </a:spcAft>
            </a:pPr>
            <a:r>
              <a:rPr sz="1300" b="1">
                <a:solidFill>
                  <a:srgbClr val="B3781A"/>
                </a:solidFill>
                <a:latin typeface="Segoe UI"/>
              </a:rPr>
              <a:t>–	</a:t>
            </a:r>
            <a:r>
              <a:rPr sz="1300" b="0">
                <a:solidFill>
                  <a:srgbClr val="3A2414"/>
                </a:solidFill>
                <a:latin typeface="Segoe UI"/>
              </a:rPr>
              <a:t>a second scan of the same QR at the desk</a:t>
            </a:r>
          </a:p>
          <a:p>
            <a:pPr marL="320040" indent="-320040">
              <a:spcAft>
                <a:spcPts val="600"/>
              </a:spcAft>
            </a:pPr>
            <a:r>
              <a:rPr sz="1500" b="1">
                <a:solidFill>
                  <a:srgbClr val="B3781A"/>
                </a:solidFill>
                <a:latin typeface="Segoe UI"/>
              </a:rPr>
              <a:t>3.	</a:t>
            </a:r>
            <a:r>
              <a:rPr sz="1500" b="0">
                <a:solidFill>
                  <a:srgbClr val="3A2414"/>
                </a:solidFill>
                <a:latin typeface="Segoe UI"/>
              </a:rPr>
              <a:t>Analytics check: Looker Studio totals match the admin dashboard summary (renderSummary in admin.js).</a:t>
            </a:r>
          </a:p>
          <a:p>
            <a:pPr marL="320040" indent="-320040">
              <a:spcAft>
                <a:spcPts val="600"/>
              </a:spcAft>
            </a:pPr>
            <a:r>
              <a:rPr sz="1500" b="1">
                <a:solidFill>
                  <a:srgbClr val="B3781A"/>
                </a:solidFill>
                <a:latin typeface="Segoe UI"/>
              </a:rPr>
              <a:t>4.	</a:t>
            </a:r>
            <a:r>
              <a:rPr sz="1500" b="0">
                <a:solidFill>
                  <a:srgbClr val="3A2414"/>
                </a:solidFill>
                <a:latin typeface="Segoe UI"/>
              </a:rPr>
              <a:t>Test run at the venue with registrars on their own phones and the venue internet.</a:t>
            </a:r>
          </a:p>
        </p:txBody>
      </p:sp>
      <p:sp>
        <p:nvSpPr>
          <p:cNvPr id="8" name="TextBox 7"/>
          <p:cNvSpPr txBox="1"/>
          <p:nvPr/>
        </p:nvSpPr>
        <p:spPr>
          <a:xfrm>
            <a:off x="6278727" y="1280160"/>
            <a:ext cx="5501487" cy="5166360"/>
          </a:xfrm>
          <a:prstGeom prst="rect">
            <a:avLst/>
          </a:prstGeom>
          <a:noFill/>
        </p:spPr>
        <p:txBody>
          <a:bodyPr wrap="square">
            <a:spAutoFit/>
          </a:bodyPr>
          <a:lstStyle/>
          <a:p>
            <a:pPr>
              <a:spcAft>
                <a:spcPts val="800"/>
              </a:spcAft>
            </a:pPr>
            <a:r>
              <a:rPr sz="1700" b="1">
                <a:solidFill>
                  <a:srgbClr val="6D1F2C"/>
                </a:solidFill>
                <a:latin typeface="Georgia"/>
              </a:rPr>
              <a:t>Assumptions and scope</a:t>
            </a:r>
          </a:p>
          <a:p>
            <a:pPr marL="320040" indent="-320040">
              <a:spcAft>
                <a:spcPts val="600"/>
              </a:spcAft>
            </a:pPr>
            <a:r>
              <a:rPr sz="1500" b="1">
                <a:solidFill>
                  <a:srgbClr val="B3781A"/>
                </a:solidFill>
                <a:latin typeface="Segoe UI"/>
              </a:rPr>
              <a:t>•	</a:t>
            </a:r>
            <a:r>
              <a:rPr sz="1500" b="0">
                <a:solidFill>
                  <a:srgbClr val="3A2414"/>
                </a:solidFill>
                <a:latin typeface="Segoe UI"/>
              </a:rPr>
              <a:t>Free plans only, so no paid Firebase plan and no Cloud Functions; Apps Script is the backend.</a:t>
            </a:r>
          </a:p>
          <a:p>
            <a:pPr marL="320040" indent="-320040">
              <a:spcAft>
                <a:spcPts val="600"/>
              </a:spcAft>
            </a:pPr>
            <a:r>
              <a:rPr sz="1500" b="1">
                <a:solidFill>
                  <a:srgbClr val="B3781A"/>
                </a:solidFill>
                <a:latin typeface="Segoe UI"/>
              </a:rPr>
              <a:t>•	</a:t>
            </a:r>
            <a:r>
              <a:rPr sz="1500" b="0">
                <a:solidFill>
                  <a:srgbClr val="3A2414"/>
                </a:solidFill>
                <a:latin typeface="Segoe UI"/>
              </a:rPr>
              <a:t>The site stays plain HTML and JavaScript (no framework), extending the current pages.</a:t>
            </a:r>
          </a:p>
          <a:p>
            <a:pPr marL="320040" indent="-320040">
              <a:spcAft>
                <a:spcPts val="600"/>
              </a:spcAft>
            </a:pPr>
            <a:r>
              <a:rPr sz="1500" b="1">
                <a:solidFill>
                  <a:srgbClr val="B3781A"/>
                </a:solidFill>
                <a:latin typeface="Segoe UI"/>
              </a:rPr>
              <a:t>•	</a:t>
            </a:r>
            <a:r>
              <a:rPr sz="1500" b="0">
                <a:solidFill>
                  <a:srgbClr val="3A2414"/>
                </a:solidFill>
                <a:latin typeface="Segoe UI"/>
              </a:rPr>
              <a:t>Not included: a native mobile app, Apple/Google Wallet passes, an event platform for multiple organisations, automatic bank connections (bank APIs cost money).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a:extLst>
            <a:ext uri="{FF2B5EF4-FFF2-40B4-BE49-F238E27FC236}">
              <a16:creationId xmlns:a16="http://schemas.microsoft.com/office/drawing/2014/main" id="{B3D5F70A-2E58-F96E-2ABC-E6D9CA74B2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BFD36C-60B2-626D-F64C-72B9C1D903B4}"/>
              </a:ext>
            </a:extLst>
          </p:cNvPr>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9390EAF-3AE9-218E-3DBD-4A407E6DF30E}"/>
              </a:ext>
            </a:extLst>
          </p:cNvPr>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CC937EB-5AFD-E539-086A-2BDA52AFBAE8}"/>
              </a:ext>
            </a:extLst>
          </p:cNvPr>
          <p:cNvSpPr txBox="1"/>
          <p:nvPr/>
        </p:nvSpPr>
        <p:spPr>
          <a:xfrm>
            <a:off x="411480" y="218450"/>
            <a:ext cx="11368735" cy="523220"/>
          </a:xfrm>
          <a:prstGeom prst="rect">
            <a:avLst/>
          </a:prstGeom>
          <a:noFill/>
        </p:spPr>
        <p:txBody>
          <a:bodyPr wrap="square" anchor="ctr">
            <a:spAutoFit/>
          </a:bodyPr>
          <a:lstStyle/>
          <a:p>
            <a:pPr algn="l"/>
            <a:r>
              <a:rPr lang="en-US" sz="2800" b="1" dirty="0">
                <a:solidFill>
                  <a:srgbClr val="FFFFFF"/>
                </a:solidFill>
                <a:latin typeface="Georgia"/>
              </a:rPr>
              <a:t>Sample website design</a:t>
            </a:r>
            <a:endParaRPr sz="2800" b="1" dirty="0">
              <a:solidFill>
                <a:srgbClr val="FFFFFF"/>
              </a:solidFill>
              <a:latin typeface="Georgia"/>
            </a:endParaRPr>
          </a:p>
        </p:txBody>
      </p:sp>
      <p:sp>
        <p:nvSpPr>
          <p:cNvPr id="5" name="TextBox 4">
            <a:extLst>
              <a:ext uri="{FF2B5EF4-FFF2-40B4-BE49-F238E27FC236}">
                <a16:creationId xmlns:a16="http://schemas.microsoft.com/office/drawing/2014/main" id="{4E8DD022-37EA-8686-8741-47E55703312C}"/>
              </a:ext>
            </a:extLst>
          </p:cNvPr>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a:extLst>
              <a:ext uri="{FF2B5EF4-FFF2-40B4-BE49-F238E27FC236}">
                <a16:creationId xmlns:a16="http://schemas.microsoft.com/office/drawing/2014/main" id="{339987B7-BFDB-BB54-7DEA-3DC706EFC7D1}"/>
              </a:ext>
            </a:extLst>
          </p:cNvPr>
          <p:cNvSpPr txBox="1"/>
          <p:nvPr/>
        </p:nvSpPr>
        <p:spPr>
          <a:xfrm>
            <a:off x="10865815" y="6446520"/>
            <a:ext cx="914400" cy="246221"/>
          </a:xfrm>
          <a:prstGeom prst="rect">
            <a:avLst/>
          </a:prstGeom>
          <a:noFill/>
        </p:spPr>
        <p:txBody>
          <a:bodyPr wrap="square" anchor="t">
            <a:spAutoFit/>
          </a:bodyPr>
          <a:lstStyle/>
          <a:p>
            <a:pPr algn="r"/>
            <a:r>
              <a:rPr sz="1000" b="0" dirty="0">
                <a:solidFill>
                  <a:srgbClr val="6F5C46"/>
                </a:solidFill>
                <a:latin typeface="Segoe UI"/>
              </a:rPr>
              <a:t>4</a:t>
            </a:r>
            <a:r>
              <a:rPr lang="en-US" sz="1000" b="0" dirty="0">
                <a:solidFill>
                  <a:srgbClr val="6F5C46"/>
                </a:solidFill>
                <a:latin typeface="Segoe UI"/>
              </a:rPr>
              <a:t>5</a:t>
            </a:r>
            <a:endParaRPr sz="1000" b="0" dirty="0">
              <a:solidFill>
                <a:srgbClr val="6F5C46"/>
              </a:solidFill>
              <a:latin typeface="Segoe UI"/>
            </a:endParaRPr>
          </a:p>
        </p:txBody>
      </p:sp>
      <p:pic>
        <p:nvPicPr>
          <p:cNvPr id="9" name="Picture 8">
            <a:extLst>
              <a:ext uri="{FF2B5EF4-FFF2-40B4-BE49-F238E27FC236}">
                <a16:creationId xmlns:a16="http://schemas.microsoft.com/office/drawing/2014/main" id="{B27E9B23-07C7-9774-E16D-DF81178BD231}"/>
              </a:ext>
            </a:extLst>
          </p:cNvPr>
          <p:cNvPicPr>
            <a:picLocks noChangeAspect="1"/>
          </p:cNvPicPr>
          <p:nvPr/>
        </p:nvPicPr>
        <p:blipFill>
          <a:blip r:embed="rId3"/>
          <a:stretch>
            <a:fillRect/>
          </a:stretch>
        </p:blipFill>
        <p:spPr>
          <a:xfrm>
            <a:off x="2452596" y="1237768"/>
            <a:ext cx="7286502" cy="4940248"/>
          </a:xfrm>
          <a:prstGeom prst="rect">
            <a:avLst/>
          </a:prstGeom>
        </p:spPr>
      </p:pic>
    </p:spTree>
    <p:extLst>
      <p:ext uri="{BB962C8B-B14F-4D97-AF65-F5344CB8AC3E}">
        <p14:creationId xmlns:p14="http://schemas.microsoft.com/office/powerpoint/2010/main" val="3529538485"/>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BF6EC"/>
        </a:solidFill>
        <a:effectLst/>
      </p:bgPr>
    </p:bg>
    <p:spTree>
      <p:nvGrpSpPr>
        <p:cNvPr id="1" name="">
          <a:extLst>
            <a:ext uri="{FF2B5EF4-FFF2-40B4-BE49-F238E27FC236}">
              <a16:creationId xmlns:a16="http://schemas.microsoft.com/office/drawing/2014/main" id="{ACA53C00-0D68-1D70-7006-3D9C0E577F6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728BAD-18E6-1554-0E90-38A58D396EBD}"/>
              </a:ext>
            </a:extLst>
          </p:cNvPr>
          <p:cNvSpPr/>
          <p:nvPr/>
        </p:nvSpPr>
        <p:spPr>
          <a:xfrm>
            <a:off x="0" y="0"/>
            <a:ext cx="12191695" cy="914400"/>
          </a:xfrm>
          <a:prstGeom prst="rect">
            <a:avLst/>
          </a:prstGeom>
          <a:solidFill>
            <a:srgbClr val="6D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25DA566-2C18-FD04-7BD8-4D99F2019B73}"/>
              </a:ext>
            </a:extLst>
          </p:cNvPr>
          <p:cNvSpPr/>
          <p:nvPr/>
        </p:nvSpPr>
        <p:spPr>
          <a:xfrm>
            <a:off x="0" y="914400"/>
            <a:ext cx="12191695" cy="54864"/>
          </a:xfrm>
          <a:prstGeom prst="rect">
            <a:avLst/>
          </a:prstGeom>
          <a:solidFill>
            <a:srgbClr val="B37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AC759AA-2CDA-AF34-CEE7-BA7E0EE883FD}"/>
              </a:ext>
            </a:extLst>
          </p:cNvPr>
          <p:cNvSpPr txBox="1"/>
          <p:nvPr/>
        </p:nvSpPr>
        <p:spPr>
          <a:xfrm>
            <a:off x="411480" y="218450"/>
            <a:ext cx="11368735" cy="523220"/>
          </a:xfrm>
          <a:prstGeom prst="rect">
            <a:avLst/>
          </a:prstGeom>
          <a:noFill/>
        </p:spPr>
        <p:txBody>
          <a:bodyPr wrap="square" anchor="ctr">
            <a:spAutoFit/>
          </a:bodyPr>
          <a:lstStyle/>
          <a:p>
            <a:pPr algn="l"/>
            <a:r>
              <a:rPr lang="en-US" sz="2800" b="1" dirty="0">
                <a:solidFill>
                  <a:srgbClr val="FFFFFF"/>
                </a:solidFill>
                <a:latin typeface="Georgia"/>
              </a:rPr>
              <a:t>Sample website flow</a:t>
            </a:r>
            <a:endParaRPr sz="2800" b="1" dirty="0">
              <a:solidFill>
                <a:srgbClr val="FFFFFF"/>
              </a:solidFill>
              <a:latin typeface="Georgia"/>
            </a:endParaRPr>
          </a:p>
        </p:txBody>
      </p:sp>
      <p:sp>
        <p:nvSpPr>
          <p:cNvPr id="5" name="TextBox 4">
            <a:extLst>
              <a:ext uri="{FF2B5EF4-FFF2-40B4-BE49-F238E27FC236}">
                <a16:creationId xmlns:a16="http://schemas.microsoft.com/office/drawing/2014/main" id="{01C25AD9-8A86-7EB9-97BB-63F646DBA77B}"/>
              </a:ext>
            </a:extLst>
          </p:cNvPr>
          <p:cNvSpPr txBox="1"/>
          <p:nvPr/>
        </p:nvSpPr>
        <p:spPr>
          <a:xfrm>
            <a:off x="411480" y="6446520"/>
            <a:ext cx="8229600" cy="320040"/>
          </a:xfrm>
          <a:prstGeom prst="rect">
            <a:avLst/>
          </a:prstGeom>
          <a:noFill/>
        </p:spPr>
        <p:txBody>
          <a:bodyPr wrap="square" anchor="t">
            <a:spAutoFit/>
          </a:bodyPr>
          <a:lstStyle/>
          <a:p>
            <a:pPr algn="l"/>
            <a:r>
              <a:rPr sz="1000" b="0">
                <a:solidFill>
                  <a:srgbClr val="6F5C46"/>
                </a:solidFill>
                <a:latin typeface="Segoe UI"/>
              </a:rPr>
              <a:t>DE SRS Brundavan e.V.  |  Seva Registration Platform - Plan</a:t>
            </a:r>
          </a:p>
        </p:txBody>
      </p:sp>
      <p:sp>
        <p:nvSpPr>
          <p:cNvPr id="6" name="TextBox 5">
            <a:extLst>
              <a:ext uri="{FF2B5EF4-FFF2-40B4-BE49-F238E27FC236}">
                <a16:creationId xmlns:a16="http://schemas.microsoft.com/office/drawing/2014/main" id="{BB7F2965-ED77-ACDB-040A-80AAA9A41BDA}"/>
              </a:ext>
            </a:extLst>
          </p:cNvPr>
          <p:cNvSpPr txBox="1"/>
          <p:nvPr/>
        </p:nvSpPr>
        <p:spPr>
          <a:xfrm>
            <a:off x="10865815" y="6446520"/>
            <a:ext cx="914400" cy="246221"/>
          </a:xfrm>
          <a:prstGeom prst="rect">
            <a:avLst/>
          </a:prstGeom>
          <a:noFill/>
        </p:spPr>
        <p:txBody>
          <a:bodyPr wrap="square" anchor="t">
            <a:spAutoFit/>
          </a:bodyPr>
          <a:lstStyle/>
          <a:p>
            <a:pPr algn="r"/>
            <a:r>
              <a:rPr sz="1000" b="0" dirty="0">
                <a:solidFill>
                  <a:srgbClr val="6F5C46"/>
                </a:solidFill>
                <a:latin typeface="Segoe UI"/>
              </a:rPr>
              <a:t>4</a:t>
            </a:r>
            <a:r>
              <a:rPr lang="en-US" sz="1000" dirty="0">
                <a:solidFill>
                  <a:srgbClr val="6F5C46"/>
                </a:solidFill>
                <a:latin typeface="Segoe UI"/>
              </a:rPr>
              <a:t>6</a:t>
            </a:r>
            <a:endParaRPr sz="1000" b="0" dirty="0">
              <a:solidFill>
                <a:srgbClr val="6F5C46"/>
              </a:solidFill>
              <a:latin typeface="Segoe UI"/>
            </a:endParaRPr>
          </a:p>
        </p:txBody>
      </p:sp>
      <p:pic>
        <p:nvPicPr>
          <p:cNvPr id="8" name="Picture 7">
            <a:extLst>
              <a:ext uri="{FF2B5EF4-FFF2-40B4-BE49-F238E27FC236}">
                <a16:creationId xmlns:a16="http://schemas.microsoft.com/office/drawing/2014/main" id="{F18EF95D-0135-FFDB-1AD6-1619488C6316}"/>
              </a:ext>
            </a:extLst>
          </p:cNvPr>
          <p:cNvPicPr>
            <a:picLocks noChangeAspect="1"/>
          </p:cNvPicPr>
          <p:nvPr/>
        </p:nvPicPr>
        <p:blipFill>
          <a:blip r:embed="rId4"/>
          <a:srcRect t="14000" b="27600"/>
          <a:stretch>
            <a:fillRect/>
          </a:stretch>
        </p:blipFill>
        <p:spPr>
          <a:xfrm>
            <a:off x="2664180" y="1055338"/>
            <a:ext cx="6717564" cy="5230743"/>
          </a:xfrm>
          <a:prstGeom prst="rect">
            <a:avLst/>
          </a:prstGeom>
        </p:spPr>
      </p:pic>
    </p:spTree>
    <p:extLst>
      <p:ext uri="{BB962C8B-B14F-4D97-AF65-F5344CB8AC3E}">
        <p14:creationId xmlns:p14="http://schemas.microsoft.com/office/powerpoint/2010/main" val="1628628702"/>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Metadata/LabelInfo.xml><?xml version="1.0" encoding="utf-8"?>
<clbl:labelList xmlns:clbl="http://schemas.microsoft.com/office/2020/mipLabelMetadata">
  <clbl:label id="{ed089a4c-4790-4735-b857-2796a4813dbc}" enabled="1" method="Privileged" siteId="{3bd97919-57c3-48d3-9e9a-8e4c01614a8f}" contentBits="2" removed="0"/>
</clbl:labelList>
</file>

<file path=docProps/app.xml><?xml version="1.0" encoding="utf-8"?>
<Properties xmlns="http://schemas.openxmlformats.org/officeDocument/2006/extended-properties" xmlns:vt="http://schemas.openxmlformats.org/officeDocument/2006/docPropsVTypes">
  <Template/>
  <TotalTime>0</TotalTime>
  <Words>4785</Words>
  <Application>Microsoft Office PowerPoint</Application>
  <PresentationFormat>Widescreen</PresentationFormat>
  <Paragraphs>674</Paragraphs>
  <Slides>45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Hebbar, Pratham Krishnamurthy</cp:lastModifiedBy>
  <cp:revision>6</cp:revision>
  <dcterms:created xsi:type="dcterms:W3CDTF">2013-01-27T09:14:16Z</dcterms:created>
  <dcterms:modified xsi:type="dcterms:W3CDTF">2026-10-18T16:04:40Z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Public</vt:lpwstr>
  </property>
</Properties>
</file>